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67" r:id="rId2"/>
    <p:sldId id="268" r:id="rId3"/>
    <p:sldId id="275" r:id="rId4"/>
    <p:sldId id="276" r:id="rId5"/>
    <p:sldId id="277" r:id="rId6"/>
    <p:sldId id="278" r:id="rId7"/>
    <p:sldId id="279" r:id="rId8"/>
    <p:sldId id="280" r:id="rId9"/>
    <p:sldId id="281" r:id="rId10"/>
    <p:sldId id="282" r:id="rId11"/>
    <p:sldId id="28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4D1D45-6469-45A7-9D4E-05D7E019FAF5}" type="datetimeFigureOut">
              <a:rPr lang="en-IN" smtClean="0"/>
              <a:t>11-12-2025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EC5B14-35BC-466B-8C06-66DBAD6F47F3}" type="slidenum">
              <a:rPr lang="en-IN" smtClean="0"/>
              <a:t>‹#›</a:t>
            </a:fld>
            <a:endParaRPr lang="en-IN"/>
          </a:p>
        </p:txBody>
      </p:sp>
    </p:spTree>
    <p:extLst>
      <p:ext uri="{BB962C8B-B14F-4D97-AF65-F5344CB8AC3E}">
        <p14:creationId xmlns:p14="http://schemas.microsoft.com/office/powerpoint/2010/main" val="3292099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DEC5B14-35BC-466B-8C06-66DBAD6F47F3}" type="slidenum">
              <a:rPr lang="en-IN" smtClean="0"/>
              <a:t>1</a:t>
            </a:fld>
            <a:endParaRPr lang="en-IN"/>
          </a:p>
        </p:txBody>
      </p:sp>
    </p:spTree>
    <p:extLst>
      <p:ext uri="{BB962C8B-B14F-4D97-AF65-F5344CB8AC3E}">
        <p14:creationId xmlns:p14="http://schemas.microsoft.com/office/powerpoint/2010/main" val="2880531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8FC78BE-84F6-4F5F-974A-47A573FE2857}" type="slidenum">
              <a:rPr lang="en-US" smtClean="0"/>
              <a:pPr/>
              <a:t>2</a:t>
            </a:fld>
            <a:endParaRPr lang="en-US"/>
          </a:p>
        </p:txBody>
      </p:sp>
    </p:spTree>
    <p:extLst>
      <p:ext uri="{BB962C8B-B14F-4D97-AF65-F5344CB8AC3E}">
        <p14:creationId xmlns:p14="http://schemas.microsoft.com/office/powerpoint/2010/main" val="2760131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25A58-5BA8-87AA-2E81-0535A72F22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AF7E5B-BE92-5437-5B13-A7D5AD1D2A6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9F5F034-959C-A179-2985-6536152564E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C1FEC5C-F498-6384-92E6-D33CB3F09012}"/>
              </a:ext>
            </a:extLst>
          </p:cNvPr>
          <p:cNvSpPr>
            <a:spLocks noGrp="1"/>
          </p:cNvSpPr>
          <p:nvPr>
            <p:ph type="sldNum" sz="quarter" idx="5"/>
          </p:nvPr>
        </p:nvSpPr>
        <p:spPr/>
        <p:txBody>
          <a:bodyPr/>
          <a:lstStyle/>
          <a:p>
            <a:fld id="{28FC78BE-84F6-4F5F-974A-47A573FE2857}" type="slidenum">
              <a:rPr lang="en-US" smtClean="0"/>
              <a:pPr/>
              <a:t>3</a:t>
            </a:fld>
            <a:endParaRPr lang="en-US"/>
          </a:p>
        </p:txBody>
      </p:sp>
    </p:spTree>
    <p:extLst>
      <p:ext uri="{BB962C8B-B14F-4D97-AF65-F5344CB8AC3E}">
        <p14:creationId xmlns:p14="http://schemas.microsoft.com/office/powerpoint/2010/main" val="41460713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81ACE-FA5A-D2B9-F254-15FAC1806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C42344-5C7C-31A9-89C1-68C90C2E453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EBD9EFA-6561-8161-AB32-755673041DC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2B3A229-3E2D-3835-14F5-F1E87CEBA5E5}"/>
              </a:ext>
            </a:extLst>
          </p:cNvPr>
          <p:cNvSpPr>
            <a:spLocks noGrp="1"/>
          </p:cNvSpPr>
          <p:nvPr>
            <p:ph type="sldNum" sz="quarter" idx="5"/>
          </p:nvPr>
        </p:nvSpPr>
        <p:spPr/>
        <p:txBody>
          <a:bodyPr/>
          <a:lstStyle/>
          <a:p>
            <a:fld id="{28FC78BE-84F6-4F5F-974A-47A573FE2857}" type="slidenum">
              <a:rPr lang="en-US" smtClean="0"/>
              <a:pPr/>
              <a:t>4</a:t>
            </a:fld>
            <a:endParaRPr lang="en-US"/>
          </a:p>
        </p:txBody>
      </p:sp>
    </p:spTree>
    <p:extLst>
      <p:ext uri="{BB962C8B-B14F-4D97-AF65-F5344CB8AC3E}">
        <p14:creationId xmlns:p14="http://schemas.microsoft.com/office/powerpoint/2010/main" val="3906884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A9D27-B22B-BAC6-FAA0-D2B127B1B4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164512-592D-070D-9EF6-37D95D55214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48A90F9-305D-0E8D-F4EC-E0C06A84B26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F80DC10-FEC8-5B00-D15F-A8F84A365D63}"/>
              </a:ext>
            </a:extLst>
          </p:cNvPr>
          <p:cNvSpPr>
            <a:spLocks noGrp="1"/>
          </p:cNvSpPr>
          <p:nvPr>
            <p:ph type="sldNum" sz="quarter" idx="5"/>
          </p:nvPr>
        </p:nvSpPr>
        <p:spPr/>
        <p:txBody>
          <a:bodyPr/>
          <a:lstStyle/>
          <a:p>
            <a:fld id="{28FC78BE-84F6-4F5F-974A-47A573FE2857}" type="slidenum">
              <a:rPr lang="en-US" smtClean="0"/>
              <a:pPr/>
              <a:t>5</a:t>
            </a:fld>
            <a:endParaRPr lang="en-US"/>
          </a:p>
        </p:txBody>
      </p:sp>
    </p:spTree>
    <p:extLst>
      <p:ext uri="{BB962C8B-B14F-4D97-AF65-F5344CB8AC3E}">
        <p14:creationId xmlns:p14="http://schemas.microsoft.com/office/powerpoint/2010/main" val="2915384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3AB38-255B-148E-895A-D701DE1F6F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A9D1E2-E319-0D46-0AAC-2AC00278100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B489B73-03FF-D428-EF72-28A955051A6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401CBCC-18A8-85E6-09CC-48A7706FDF63}"/>
              </a:ext>
            </a:extLst>
          </p:cNvPr>
          <p:cNvSpPr>
            <a:spLocks noGrp="1"/>
          </p:cNvSpPr>
          <p:nvPr>
            <p:ph type="sldNum" sz="quarter" idx="5"/>
          </p:nvPr>
        </p:nvSpPr>
        <p:spPr/>
        <p:txBody>
          <a:bodyPr/>
          <a:lstStyle/>
          <a:p>
            <a:fld id="{28FC78BE-84F6-4F5F-974A-47A573FE2857}" type="slidenum">
              <a:rPr lang="en-US" smtClean="0"/>
              <a:pPr/>
              <a:t>6</a:t>
            </a:fld>
            <a:endParaRPr lang="en-US"/>
          </a:p>
        </p:txBody>
      </p:sp>
    </p:spTree>
    <p:extLst>
      <p:ext uri="{BB962C8B-B14F-4D97-AF65-F5344CB8AC3E}">
        <p14:creationId xmlns:p14="http://schemas.microsoft.com/office/powerpoint/2010/main" val="2514409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03375-60D9-28C1-53DC-D237B3C4D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98884A-3801-9906-4669-94B04A63AD1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067BEC-B0D1-8049-7990-43CED831AB5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4C25515-26DB-1A09-7BF9-CCC086D66B86}"/>
              </a:ext>
            </a:extLst>
          </p:cNvPr>
          <p:cNvSpPr>
            <a:spLocks noGrp="1"/>
          </p:cNvSpPr>
          <p:nvPr>
            <p:ph type="sldNum" sz="quarter" idx="5"/>
          </p:nvPr>
        </p:nvSpPr>
        <p:spPr/>
        <p:txBody>
          <a:bodyPr/>
          <a:lstStyle/>
          <a:p>
            <a:fld id="{28FC78BE-84F6-4F5F-974A-47A573FE2857}" type="slidenum">
              <a:rPr lang="en-US" smtClean="0"/>
              <a:pPr/>
              <a:t>7</a:t>
            </a:fld>
            <a:endParaRPr lang="en-US"/>
          </a:p>
        </p:txBody>
      </p:sp>
    </p:spTree>
    <p:extLst>
      <p:ext uri="{BB962C8B-B14F-4D97-AF65-F5344CB8AC3E}">
        <p14:creationId xmlns:p14="http://schemas.microsoft.com/office/powerpoint/2010/main" val="30922446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90749-AF63-8644-83C0-B31B5750D1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0F7FC5-EB23-9980-6FC7-CF1818F28FE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EC7BECC-94C8-3293-8C88-1D0B442EA3F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8C86CDD-C9B7-5F74-2CD1-F14090909CCB}"/>
              </a:ext>
            </a:extLst>
          </p:cNvPr>
          <p:cNvSpPr>
            <a:spLocks noGrp="1"/>
          </p:cNvSpPr>
          <p:nvPr>
            <p:ph type="sldNum" sz="quarter" idx="5"/>
          </p:nvPr>
        </p:nvSpPr>
        <p:spPr/>
        <p:txBody>
          <a:bodyPr/>
          <a:lstStyle/>
          <a:p>
            <a:fld id="{28FC78BE-84F6-4F5F-974A-47A573FE2857}" type="slidenum">
              <a:rPr lang="en-US" smtClean="0"/>
              <a:pPr/>
              <a:t>8</a:t>
            </a:fld>
            <a:endParaRPr lang="en-US"/>
          </a:p>
        </p:txBody>
      </p:sp>
    </p:spTree>
    <p:extLst>
      <p:ext uri="{BB962C8B-B14F-4D97-AF65-F5344CB8AC3E}">
        <p14:creationId xmlns:p14="http://schemas.microsoft.com/office/powerpoint/2010/main" val="12248822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111A1-A520-6692-8AC1-CDC7B8697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998781-0784-8373-21DB-C5C195012B4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ABE8905-08AD-438F-53A3-37CB8C43C2E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16CFDA5-D29B-387A-9E5A-1B66C39578A1}"/>
              </a:ext>
            </a:extLst>
          </p:cNvPr>
          <p:cNvSpPr>
            <a:spLocks noGrp="1"/>
          </p:cNvSpPr>
          <p:nvPr>
            <p:ph type="sldNum" sz="quarter" idx="5"/>
          </p:nvPr>
        </p:nvSpPr>
        <p:spPr/>
        <p:txBody>
          <a:bodyPr/>
          <a:lstStyle/>
          <a:p>
            <a:fld id="{28FC78BE-84F6-4F5F-974A-47A573FE2857}" type="slidenum">
              <a:rPr lang="en-US" smtClean="0"/>
              <a:pPr/>
              <a:t>9</a:t>
            </a:fld>
            <a:endParaRPr lang="en-US"/>
          </a:p>
        </p:txBody>
      </p:sp>
    </p:spTree>
    <p:extLst>
      <p:ext uri="{BB962C8B-B14F-4D97-AF65-F5344CB8AC3E}">
        <p14:creationId xmlns:p14="http://schemas.microsoft.com/office/powerpoint/2010/main" val="25467104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A5057-4A63-292D-33F8-7465440EBE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62002E-BD9B-D7A2-A34B-165CCA573D2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F50E99-7AD7-F62C-4FB4-35B9BB69CB8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B398B3A-D72F-DE12-EF0A-67F2DEC71482}"/>
              </a:ext>
            </a:extLst>
          </p:cNvPr>
          <p:cNvSpPr>
            <a:spLocks noGrp="1"/>
          </p:cNvSpPr>
          <p:nvPr>
            <p:ph type="sldNum" sz="quarter" idx="5"/>
          </p:nvPr>
        </p:nvSpPr>
        <p:spPr/>
        <p:txBody>
          <a:bodyPr/>
          <a:lstStyle/>
          <a:p>
            <a:fld id="{28FC78BE-84F6-4F5F-974A-47A573FE2857}" type="slidenum">
              <a:rPr lang="en-US" smtClean="0"/>
              <a:pPr/>
              <a:t>10</a:t>
            </a:fld>
            <a:endParaRPr lang="en-US"/>
          </a:p>
        </p:txBody>
      </p:sp>
    </p:spTree>
    <p:extLst>
      <p:ext uri="{BB962C8B-B14F-4D97-AF65-F5344CB8AC3E}">
        <p14:creationId xmlns:p14="http://schemas.microsoft.com/office/powerpoint/2010/main" val="41558923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A02D7-03F8-8AC7-D1AC-F7EFB8C1BE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122628-6229-EC41-5B49-EBA055D3C50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E38A17F-5C2B-D585-4CA2-9ED854B4C1F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55FF443-4FD0-F4FA-51DA-F2CA2BA54F5D}"/>
              </a:ext>
            </a:extLst>
          </p:cNvPr>
          <p:cNvSpPr>
            <a:spLocks noGrp="1"/>
          </p:cNvSpPr>
          <p:nvPr>
            <p:ph type="sldNum" sz="quarter" idx="5"/>
          </p:nvPr>
        </p:nvSpPr>
        <p:spPr/>
        <p:txBody>
          <a:bodyPr/>
          <a:lstStyle/>
          <a:p>
            <a:fld id="{28FC78BE-84F6-4F5F-974A-47A573FE2857}" type="slidenum">
              <a:rPr lang="en-US" smtClean="0"/>
              <a:pPr/>
              <a:t>11</a:t>
            </a:fld>
            <a:endParaRPr lang="en-US"/>
          </a:p>
        </p:txBody>
      </p:sp>
    </p:spTree>
    <p:extLst>
      <p:ext uri="{BB962C8B-B14F-4D97-AF65-F5344CB8AC3E}">
        <p14:creationId xmlns:p14="http://schemas.microsoft.com/office/powerpoint/2010/main" val="3734252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F6F7E-009E-BFEB-C37A-2A9E516A09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BC02FF5-9A92-4590-E2E2-33E7F47C5A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F20DF9E-A7DD-B54B-A0E5-A59199D69200}"/>
              </a:ext>
            </a:extLst>
          </p:cNvPr>
          <p:cNvSpPr>
            <a:spLocks noGrp="1"/>
          </p:cNvSpPr>
          <p:nvPr>
            <p:ph type="dt" sz="half" idx="10"/>
          </p:nvPr>
        </p:nvSpPr>
        <p:spPr/>
        <p:txBody>
          <a:bodyPr/>
          <a:lstStyle/>
          <a:p>
            <a:fld id="{0DBB0E7A-691A-49A6-B1F0-D26B85CC67C5}" type="datetimeFigureOut">
              <a:rPr lang="en-IN" smtClean="0"/>
              <a:t>11-12-2025</a:t>
            </a:fld>
            <a:endParaRPr lang="en-IN"/>
          </a:p>
        </p:txBody>
      </p:sp>
      <p:sp>
        <p:nvSpPr>
          <p:cNvPr id="5" name="Footer Placeholder 4">
            <a:extLst>
              <a:ext uri="{FF2B5EF4-FFF2-40B4-BE49-F238E27FC236}">
                <a16:creationId xmlns:a16="http://schemas.microsoft.com/office/drawing/2014/main" id="{E09522FE-8A63-70C2-0F76-3EC4F380E2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B10ABB-CAC6-AD9E-CA16-FB6199953A26}"/>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2351711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4597-D753-A1CA-05B9-5A5ADCE9F5A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5A4807-4949-70BC-EFC5-B444189393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DF9EF5-B53B-B8F3-73B5-52A785B100C6}"/>
              </a:ext>
            </a:extLst>
          </p:cNvPr>
          <p:cNvSpPr>
            <a:spLocks noGrp="1"/>
          </p:cNvSpPr>
          <p:nvPr>
            <p:ph type="dt" sz="half" idx="10"/>
          </p:nvPr>
        </p:nvSpPr>
        <p:spPr/>
        <p:txBody>
          <a:bodyPr/>
          <a:lstStyle/>
          <a:p>
            <a:fld id="{0DBB0E7A-691A-49A6-B1F0-D26B85CC67C5}" type="datetimeFigureOut">
              <a:rPr lang="en-IN" smtClean="0"/>
              <a:t>11-12-2025</a:t>
            </a:fld>
            <a:endParaRPr lang="en-IN"/>
          </a:p>
        </p:txBody>
      </p:sp>
      <p:sp>
        <p:nvSpPr>
          <p:cNvPr id="5" name="Footer Placeholder 4">
            <a:extLst>
              <a:ext uri="{FF2B5EF4-FFF2-40B4-BE49-F238E27FC236}">
                <a16:creationId xmlns:a16="http://schemas.microsoft.com/office/drawing/2014/main" id="{81AF9B32-693D-5F55-2E4B-7C44ECE050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64B629-26AE-31C4-D4E2-81E34ED02845}"/>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4128974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00E81-FD43-9FC5-F4AD-A2B229B84E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949C76D-CCF2-463B-BE19-8E421E963D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424B7A-388E-E53A-F1AC-25B0CC00393A}"/>
              </a:ext>
            </a:extLst>
          </p:cNvPr>
          <p:cNvSpPr>
            <a:spLocks noGrp="1"/>
          </p:cNvSpPr>
          <p:nvPr>
            <p:ph type="dt" sz="half" idx="10"/>
          </p:nvPr>
        </p:nvSpPr>
        <p:spPr/>
        <p:txBody>
          <a:bodyPr/>
          <a:lstStyle/>
          <a:p>
            <a:fld id="{0DBB0E7A-691A-49A6-B1F0-D26B85CC67C5}" type="datetimeFigureOut">
              <a:rPr lang="en-IN" smtClean="0"/>
              <a:t>11-12-2025</a:t>
            </a:fld>
            <a:endParaRPr lang="en-IN"/>
          </a:p>
        </p:txBody>
      </p:sp>
      <p:sp>
        <p:nvSpPr>
          <p:cNvPr id="5" name="Footer Placeholder 4">
            <a:extLst>
              <a:ext uri="{FF2B5EF4-FFF2-40B4-BE49-F238E27FC236}">
                <a16:creationId xmlns:a16="http://schemas.microsoft.com/office/drawing/2014/main" id="{242EB7DA-648F-9CF9-DF59-8A29F189CD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F946B1-3E4E-9BF8-703E-60C10B5BFBBB}"/>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3110374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5C39D-9057-836C-6367-9778DBD84C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B3CDBB5-5F5F-E8C3-20EE-32D4EF0F7E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A3ACF99-01ED-9A6C-032E-EC0D6A675A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E850886-5085-8914-5DF8-5D9C52AF2049}"/>
              </a:ext>
            </a:extLst>
          </p:cNvPr>
          <p:cNvSpPr>
            <a:spLocks noGrp="1"/>
          </p:cNvSpPr>
          <p:nvPr>
            <p:ph type="dt" sz="half" idx="10"/>
          </p:nvPr>
        </p:nvSpPr>
        <p:spPr/>
        <p:txBody>
          <a:bodyPr/>
          <a:lstStyle/>
          <a:p>
            <a:fld id="{0DBB0E7A-691A-49A6-B1F0-D26B85CC67C5}" type="datetimeFigureOut">
              <a:rPr lang="en-IN" smtClean="0"/>
              <a:t>11-12-2025</a:t>
            </a:fld>
            <a:endParaRPr lang="en-IN"/>
          </a:p>
        </p:txBody>
      </p:sp>
      <p:sp>
        <p:nvSpPr>
          <p:cNvPr id="6" name="Footer Placeholder 5">
            <a:extLst>
              <a:ext uri="{FF2B5EF4-FFF2-40B4-BE49-F238E27FC236}">
                <a16:creationId xmlns:a16="http://schemas.microsoft.com/office/drawing/2014/main" id="{58D53C6E-B8BA-1EDC-9109-612032209B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7E7F3E-CA8E-CA1B-CE29-61DCCC82242E}"/>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1225073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1C53A-BAAB-36AE-0B5E-A91A98C7C4B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F42C93B-7E17-7D21-3E55-C0B3947BC9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FC7ACA-5A04-6C78-7C46-24DD0641E9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C1DB73-95E0-2CA5-1FAA-485060D454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68570A-C147-361A-270A-350B68584F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E514703-0378-48EB-2D1D-7F4922945BE0}"/>
              </a:ext>
            </a:extLst>
          </p:cNvPr>
          <p:cNvSpPr>
            <a:spLocks noGrp="1"/>
          </p:cNvSpPr>
          <p:nvPr>
            <p:ph type="dt" sz="half" idx="10"/>
          </p:nvPr>
        </p:nvSpPr>
        <p:spPr/>
        <p:txBody>
          <a:bodyPr/>
          <a:lstStyle/>
          <a:p>
            <a:fld id="{0DBB0E7A-691A-49A6-B1F0-D26B85CC67C5}" type="datetimeFigureOut">
              <a:rPr lang="en-IN" smtClean="0"/>
              <a:t>11-12-2025</a:t>
            </a:fld>
            <a:endParaRPr lang="en-IN"/>
          </a:p>
        </p:txBody>
      </p:sp>
      <p:sp>
        <p:nvSpPr>
          <p:cNvPr id="8" name="Footer Placeholder 7">
            <a:extLst>
              <a:ext uri="{FF2B5EF4-FFF2-40B4-BE49-F238E27FC236}">
                <a16:creationId xmlns:a16="http://schemas.microsoft.com/office/drawing/2014/main" id="{7F2EE4F8-A60F-D9F9-CAAE-32AE0FE6C0D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3F31DA8-888B-D212-D220-7AEE167D207F}"/>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1056068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BD602-B283-69F3-F102-395D730BCB8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886205C-4426-9929-8251-ADEBC079F9FE}"/>
              </a:ext>
            </a:extLst>
          </p:cNvPr>
          <p:cNvSpPr>
            <a:spLocks noGrp="1"/>
          </p:cNvSpPr>
          <p:nvPr>
            <p:ph type="dt" sz="half" idx="10"/>
          </p:nvPr>
        </p:nvSpPr>
        <p:spPr/>
        <p:txBody>
          <a:bodyPr/>
          <a:lstStyle/>
          <a:p>
            <a:fld id="{0DBB0E7A-691A-49A6-B1F0-D26B85CC67C5}" type="datetimeFigureOut">
              <a:rPr lang="en-IN" smtClean="0"/>
              <a:t>11-12-2025</a:t>
            </a:fld>
            <a:endParaRPr lang="en-IN"/>
          </a:p>
        </p:txBody>
      </p:sp>
      <p:sp>
        <p:nvSpPr>
          <p:cNvPr id="4" name="Footer Placeholder 3">
            <a:extLst>
              <a:ext uri="{FF2B5EF4-FFF2-40B4-BE49-F238E27FC236}">
                <a16:creationId xmlns:a16="http://schemas.microsoft.com/office/drawing/2014/main" id="{EA5E2032-F457-1054-AF89-9E900A75BAA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B669171-D6D6-D6A4-865E-791B889C33DC}"/>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2769391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123FBE-12D0-2517-ECEA-C2A93913C694}"/>
              </a:ext>
            </a:extLst>
          </p:cNvPr>
          <p:cNvSpPr>
            <a:spLocks noGrp="1"/>
          </p:cNvSpPr>
          <p:nvPr>
            <p:ph type="dt" sz="half" idx="10"/>
          </p:nvPr>
        </p:nvSpPr>
        <p:spPr/>
        <p:txBody>
          <a:bodyPr/>
          <a:lstStyle/>
          <a:p>
            <a:fld id="{0DBB0E7A-691A-49A6-B1F0-D26B85CC67C5}" type="datetimeFigureOut">
              <a:rPr lang="en-IN" smtClean="0"/>
              <a:t>11-12-2025</a:t>
            </a:fld>
            <a:endParaRPr lang="en-IN"/>
          </a:p>
        </p:txBody>
      </p:sp>
      <p:sp>
        <p:nvSpPr>
          <p:cNvPr id="3" name="Footer Placeholder 2">
            <a:extLst>
              <a:ext uri="{FF2B5EF4-FFF2-40B4-BE49-F238E27FC236}">
                <a16:creationId xmlns:a16="http://schemas.microsoft.com/office/drawing/2014/main" id="{1EC080F8-8229-8E1D-A8E8-B2BAED6914C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1AA8199-F2CE-D464-414C-2E2D7A82C1F4}"/>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2684102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4E41D-E09A-1D31-FB44-60F73D02CB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06588AB-C354-920D-B642-C4B72AB852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0973447-B6B5-C20E-F555-CA3739B36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34B233-B9EF-274E-C5B1-1EEA34D889DC}"/>
              </a:ext>
            </a:extLst>
          </p:cNvPr>
          <p:cNvSpPr>
            <a:spLocks noGrp="1"/>
          </p:cNvSpPr>
          <p:nvPr>
            <p:ph type="dt" sz="half" idx="10"/>
          </p:nvPr>
        </p:nvSpPr>
        <p:spPr/>
        <p:txBody>
          <a:bodyPr/>
          <a:lstStyle/>
          <a:p>
            <a:fld id="{0DBB0E7A-691A-49A6-B1F0-D26B85CC67C5}" type="datetimeFigureOut">
              <a:rPr lang="en-IN" smtClean="0"/>
              <a:t>11-12-2025</a:t>
            </a:fld>
            <a:endParaRPr lang="en-IN"/>
          </a:p>
        </p:txBody>
      </p:sp>
      <p:sp>
        <p:nvSpPr>
          <p:cNvPr id="6" name="Footer Placeholder 5">
            <a:extLst>
              <a:ext uri="{FF2B5EF4-FFF2-40B4-BE49-F238E27FC236}">
                <a16:creationId xmlns:a16="http://schemas.microsoft.com/office/drawing/2014/main" id="{F06EA7E9-8413-1CD1-55DD-201B4D9E36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8FDE02-D27A-3007-13F6-CD5FB6C38897}"/>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843957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3EE92-0673-8D5D-7692-90E81C7DC8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55F483E-1BDD-55E7-3E4A-2AEC00E970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562A7BCD-37E6-6317-FB10-B6DF6F233B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A8DDD7-D562-A017-7B16-F96DDF88734D}"/>
              </a:ext>
            </a:extLst>
          </p:cNvPr>
          <p:cNvSpPr>
            <a:spLocks noGrp="1"/>
          </p:cNvSpPr>
          <p:nvPr>
            <p:ph type="dt" sz="half" idx="10"/>
          </p:nvPr>
        </p:nvSpPr>
        <p:spPr/>
        <p:txBody>
          <a:bodyPr/>
          <a:lstStyle/>
          <a:p>
            <a:fld id="{0DBB0E7A-691A-49A6-B1F0-D26B85CC67C5}" type="datetimeFigureOut">
              <a:rPr lang="en-IN" smtClean="0"/>
              <a:t>11-12-2025</a:t>
            </a:fld>
            <a:endParaRPr lang="en-IN"/>
          </a:p>
        </p:txBody>
      </p:sp>
      <p:sp>
        <p:nvSpPr>
          <p:cNvPr id="6" name="Footer Placeholder 5">
            <a:extLst>
              <a:ext uri="{FF2B5EF4-FFF2-40B4-BE49-F238E27FC236}">
                <a16:creationId xmlns:a16="http://schemas.microsoft.com/office/drawing/2014/main" id="{3FAEF617-63EE-1855-FA6E-75A1C1AC81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DD47F0-8385-DC86-88B5-9692CB7FDF2A}"/>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1750975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AD632-7E92-D52D-7A8F-3F71DB4246A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62D827-BAA4-987D-E6DE-7106860D43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6399DE-B890-3A55-0DD8-09032516342D}"/>
              </a:ext>
            </a:extLst>
          </p:cNvPr>
          <p:cNvSpPr>
            <a:spLocks noGrp="1"/>
          </p:cNvSpPr>
          <p:nvPr>
            <p:ph type="dt" sz="half" idx="10"/>
          </p:nvPr>
        </p:nvSpPr>
        <p:spPr/>
        <p:txBody>
          <a:bodyPr/>
          <a:lstStyle/>
          <a:p>
            <a:fld id="{0DBB0E7A-691A-49A6-B1F0-D26B85CC67C5}" type="datetimeFigureOut">
              <a:rPr lang="en-IN" smtClean="0"/>
              <a:t>11-12-2025</a:t>
            </a:fld>
            <a:endParaRPr lang="en-IN"/>
          </a:p>
        </p:txBody>
      </p:sp>
      <p:sp>
        <p:nvSpPr>
          <p:cNvPr id="5" name="Footer Placeholder 4">
            <a:extLst>
              <a:ext uri="{FF2B5EF4-FFF2-40B4-BE49-F238E27FC236}">
                <a16:creationId xmlns:a16="http://schemas.microsoft.com/office/drawing/2014/main" id="{4E36BE0A-3D2E-123E-22B6-F09E129BB7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44216D-D689-A634-8DC9-7EF2F0FA3E68}"/>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3687086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965D50-FFFC-196D-9962-0C5A16F87F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DF1AFF-34F0-9FF7-0824-FF83B057DE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764F87-4FFF-D541-815C-42DAF5BED3B9}"/>
              </a:ext>
            </a:extLst>
          </p:cNvPr>
          <p:cNvSpPr>
            <a:spLocks noGrp="1"/>
          </p:cNvSpPr>
          <p:nvPr>
            <p:ph type="dt" sz="half" idx="10"/>
          </p:nvPr>
        </p:nvSpPr>
        <p:spPr/>
        <p:txBody>
          <a:bodyPr/>
          <a:lstStyle/>
          <a:p>
            <a:fld id="{0DBB0E7A-691A-49A6-B1F0-D26B85CC67C5}" type="datetimeFigureOut">
              <a:rPr lang="en-IN" smtClean="0"/>
              <a:t>11-12-2025</a:t>
            </a:fld>
            <a:endParaRPr lang="en-IN"/>
          </a:p>
        </p:txBody>
      </p:sp>
      <p:sp>
        <p:nvSpPr>
          <p:cNvPr id="5" name="Footer Placeholder 4">
            <a:extLst>
              <a:ext uri="{FF2B5EF4-FFF2-40B4-BE49-F238E27FC236}">
                <a16:creationId xmlns:a16="http://schemas.microsoft.com/office/drawing/2014/main" id="{8CB531E4-DE51-5AF5-0ABC-BC4518D7E6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02BC8F-8BC9-FC4C-66C3-30DFEFE67BAE}"/>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3179008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Date Placeholder 3"/>
          <p:cNvSpPr txBox="1"/>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p:cNvSpPr txBox="1"/>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916571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D2C521-2D18-7140-975B-85EDC255C1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3C7CA4-1941-1257-05C4-C154515585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35C15F-01C2-3D60-D347-02F1C92780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B0E7A-691A-49A6-B1F0-D26B85CC67C5}" type="datetimeFigureOut">
              <a:rPr lang="en-IN" smtClean="0"/>
              <a:t>11-12-2025</a:t>
            </a:fld>
            <a:endParaRPr lang="en-IN"/>
          </a:p>
        </p:txBody>
      </p:sp>
      <p:sp>
        <p:nvSpPr>
          <p:cNvPr id="5" name="Footer Placeholder 4">
            <a:extLst>
              <a:ext uri="{FF2B5EF4-FFF2-40B4-BE49-F238E27FC236}">
                <a16:creationId xmlns:a16="http://schemas.microsoft.com/office/drawing/2014/main" id="{140CA51C-EBAC-AA2A-45C3-CC89F7DA24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716D6D1-6109-0C99-439D-DDDA7E1A85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2E5909-80DD-4F63-A607-40297820B079}" type="slidenum">
              <a:rPr lang="en-IN" smtClean="0"/>
              <a:t>‹#›</a:t>
            </a:fld>
            <a:endParaRPr lang="en-IN"/>
          </a:p>
        </p:txBody>
      </p:sp>
    </p:spTree>
    <p:extLst>
      <p:ext uri="{BB962C8B-B14F-4D97-AF65-F5344CB8AC3E}">
        <p14:creationId xmlns:p14="http://schemas.microsoft.com/office/powerpoint/2010/main" val="1563492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hyperlink" Target="https://github.com/tharun00123/CSE-2022-26-Batch-B13"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11"/>
          <p:cNvSpPr txBox="1"/>
          <p:nvPr/>
        </p:nvSpPr>
        <p:spPr>
          <a:xfrm>
            <a:off x="1514475" y="5162533"/>
            <a:ext cx="9163049" cy="1427181"/>
          </a:xfrm>
          <a:prstGeom prst="rect">
            <a:avLst/>
          </a:prstGeom>
        </p:spPr>
        <p:txBody>
          <a:bodyPr vert="horz" lIns="91440" tIns="45720" rIns="91440" bIns="45720" rtlCol="0">
            <a:normAutofit fontScale="5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endParaRPr lang="en-US" sz="3400" b="0" dirty="0"/>
          </a:p>
          <a:p>
            <a:pPr>
              <a:spcBef>
                <a:spcPts val="300"/>
              </a:spcBef>
            </a:pPr>
            <a:r>
              <a:rPr lang="en-IN" sz="2000" b="0" dirty="0"/>
              <a:t>(</a:t>
            </a:r>
            <a:r>
              <a:rPr lang="en-IN" sz="2300" b="0" dirty="0"/>
              <a:t>Affiliated to JNTUA &amp; Approved by AICTE) (Accredited by NAAC with ‘A’ Grade &amp; Accredited by NBA (EEE, ECE &amp; CSE) Rotarypuram Village, B K Samudram Mandal, Ananthapuramu – 515701.</a:t>
            </a:r>
          </a:p>
          <a:p>
            <a:pPr>
              <a:spcBef>
                <a:spcPts val="300"/>
              </a:spcBef>
            </a:pPr>
            <a:endParaRPr lang="en-IN" sz="2000" b="0" dirty="0"/>
          </a:p>
          <a:p>
            <a:pPr>
              <a:spcBef>
                <a:spcPts val="300"/>
              </a:spcBef>
            </a:pPr>
            <a:r>
              <a:rPr lang="en-US" sz="2500" dirty="0">
                <a:solidFill>
                  <a:schemeClr val="accent1">
                    <a:lumMod val="50000"/>
                  </a:schemeClr>
                </a:solidFill>
              </a:rPr>
              <a:t>2025-2026</a:t>
            </a:r>
            <a:endParaRPr lang="en-US" sz="2500" b="0" dirty="0"/>
          </a:p>
          <a:p>
            <a:endParaRPr lang="en-IN" b="0" dirty="0"/>
          </a:p>
        </p:txBody>
      </p:sp>
      <p:sp>
        <p:nvSpPr>
          <p:cNvPr id="13" name="Subtitle 11"/>
          <p:cNvSpPr txBox="1"/>
          <p:nvPr/>
        </p:nvSpPr>
        <p:spPr>
          <a:xfrm>
            <a:off x="8617598" y="1783000"/>
            <a:ext cx="2382924"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endParaRPr lang="en-US" sz="2600" b="0" dirty="0">
              <a:effectLst>
                <a:outerShdw blurRad="38100" dist="38100" dir="2700000" algn="tl">
                  <a:srgbClr val="000000">
                    <a:alpha val="43137"/>
                  </a:srgbClr>
                </a:outerShdw>
              </a:effectLst>
            </a:endParaRPr>
          </a:p>
        </p:txBody>
      </p:sp>
      <p:sp>
        <p:nvSpPr>
          <p:cNvPr id="14" name="Subtitle 11"/>
          <p:cNvSpPr txBox="1"/>
          <p:nvPr/>
        </p:nvSpPr>
        <p:spPr>
          <a:xfrm>
            <a:off x="1191460" y="1783000"/>
            <a:ext cx="2382924"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endParaRPr lang="en-US" sz="2600" b="0" dirty="0">
              <a:effectLst>
                <a:outerShdw blurRad="38100" dist="38100" dir="2700000" algn="tl">
                  <a:srgbClr val="000000">
                    <a:alpha val="43137"/>
                  </a:srgbClr>
                </a:outerShdw>
              </a:effectLst>
            </a:endParaRPr>
          </a:p>
        </p:txBody>
      </p:sp>
      <p:sp>
        <p:nvSpPr>
          <p:cNvPr id="17" name="Rectangle: Rounded Corners 16"/>
          <p:cNvSpPr/>
          <p:nvPr/>
        </p:nvSpPr>
        <p:spPr>
          <a:xfrm>
            <a:off x="831897" y="328748"/>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dirty="0">
                <a:solidFill>
                  <a:schemeClr val="bg1"/>
                </a:solidFill>
                <a:latin typeface="Times New Roman" panose="02020603050405020304" pitchFamily="18" charset="0"/>
                <a:cs typeface="Times New Roman" panose="02020603050405020304" pitchFamily="18" charset="0"/>
              </a:rPr>
              <a:t>Smart stress detection and relief system using voice and image processing</a:t>
            </a:r>
            <a:endParaRPr lang="en-IN" sz="2400" dirty="0"/>
          </a:p>
        </p:txBody>
      </p:sp>
      <p:sp>
        <p:nvSpPr>
          <p:cNvPr id="18" name="Rectangle 17"/>
          <p:cNvSpPr/>
          <p:nvPr/>
        </p:nvSpPr>
        <p:spPr>
          <a:xfrm>
            <a:off x="2714836" y="1303981"/>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sp>
        <p:nvSpPr>
          <p:cNvPr id="9" name="Subtitle 11">
            <a:extLst>
              <a:ext uri="{FF2B5EF4-FFF2-40B4-BE49-F238E27FC236}">
                <a16:creationId xmlns:a16="http://schemas.microsoft.com/office/drawing/2014/main" id="{04A56587-79A6-DCEE-A22B-FCD3B9EB37C7}"/>
              </a:ext>
            </a:extLst>
          </p:cNvPr>
          <p:cNvSpPr txBox="1"/>
          <p:nvPr/>
        </p:nvSpPr>
        <p:spPr>
          <a:xfrm>
            <a:off x="5965615" y="1630100"/>
            <a:ext cx="2627920" cy="72551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endParaRPr lang="en-US" sz="1600" b="0" dirty="0"/>
          </a:p>
        </p:txBody>
      </p:sp>
      <p:sp>
        <p:nvSpPr>
          <p:cNvPr id="2" name="TextBox 1">
            <a:extLst>
              <a:ext uri="{FF2B5EF4-FFF2-40B4-BE49-F238E27FC236}">
                <a16:creationId xmlns:a16="http://schemas.microsoft.com/office/drawing/2014/main" id="{D429619D-09F3-780E-7EEA-965AFCB0ACC9}"/>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B13</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38A0E17-78D6-9D47-0A57-AC3BB2A79621}"/>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3CBBB32-3F20-C4EA-1271-34796C33DD57}"/>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56C90BAD-7E49-D965-05FA-251CB0D61B49}"/>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01</a:t>
            </a:r>
          </a:p>
        </p:txBody>
      </p:sp>
      <p:pic>
        <p:nvPicPr>
          <p:cNvPr id="15" name="object 19">
            <a:extLst>
              <a:ext uri="{FF2B5EF4-FFF2-40B4-BE49-F238E27FC236}">
                <a16:creationId xmlns:a16="http://schemas.microsoft.com/office/drawing/2014/main" id="{F89990DA-855B-1435-A1A6-464A24537A81}"/>
              </a:ext>
            </a:extLst>
          </p:cNvPr>
          <p:cNvPicPr/>
          <p:nvPr/>
        </p:nvPicPr>
        <p:blipFill>
          <a:blip r:embed="rId3" cstate="print"/>
          <a:stretch>
            <a:fillRect/>
          </a:stretch>
        </p:blipFill>
        <p:spPr>
          <a:xfrm>
            <a:off x="5330904" y="3429000"/>
            <a:ext cx="1527378" cy="1685486"/>
          </a:xfrm>
          <a:prstGeom prst="rect">
            <a:avLst/>
          </a:prstGeom>
        </p:spPr>
      </p:pic>
      <p:sp>
        <p:nvSpPr>
          <p:cNvPr id="5" name="Subtitle 11">
            <a:extLst>
              <a:ext uri="{FF2B5EF4-FFF2-40B4-BE49-F238E27FC236}">
                <a16:creationId xmlns:a16="http://schemas.microsoft.com/office/drawing/2014/main" id="{067162A9-9FAD-2C9E-4420-E0DC0264B4C9}"/>
              </a:ext>
            </a:extLst>
          </p:cNvPr>
          <p:cNvSpPr txBox="1"/>
          <p:nvPr/>
        </p:nvSpPr>
        <p:spPr>
          <a:xfrm>
            <a:off x="3759650" y="2370864"/>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200"/>
              </a:spcBef>
            </a:pPr>
            <a:r>
              <a:rPr lang="en-IN" sz="2400" b="0" dirty="0">
                <a:effectLst>
                  <a:outerShdw blurRad="38100" dist="38100" dir="2700000" algn="tl">
                    <a:srgbClr val="000000">
                      <a:alpha val="43137"/>
                    </a:srgbClr>
                  </a:outerShdw>
                </a:effectLst>
              </a:rPr>
              <a:t>Mr. L. SUMAN ,</a:t>
            </a:r>
            <a:r>
              <a:rPr lang="en-IN" sz="1400" b="0" dirty="0">
                <a:effectLst>
                  <a:outerShdw blurRad="38100" dist="38100" dir="2700000" algn="tl">
                    <a:srgbClr val="000000">
                      <a:alpha val="43137"/>
                    </a:srgbClr>
                  </a:outerShdw>
                </a:effectLst>
              </a:rPr>
              <a:t>M. Tech, (Ph.D.)</a:t>
            </a:r>
          </a:p>
          <a:p>
            <a:pPr>
              <a:spcBef>
                <a:spcPts val="200"/>
              </a:spcBef>
            </a:pPr>
            <a:endParaRPr lang="en-IN" sz="1400" b="0" dirty="0">
              <a:effectLst>
                <a:outerShdw blurRad="38100" dist="38100" dir="2700000" algn="tl">
                  <a:srgbClr val="000000">
                    <a:alpha val="43137"/>
                  </a:srgbClr>
                </a:outerShdw>
              </a:effectLst>
            </a:endParaRPr>
          </a:p>
          <a:p>
            <a:pPr>
              <a:spcBef>
                <a:spcPts val="200"/>
              </a:spcBef>
            </a:pPr>
            <a:r>
              <a:rPr lang="en-IN" sz="1200" b="0" dirty="0">
                <a:effectLst>
                  <a:outerShdw blurRad="38100" dist="38100" dir="2700000" algn="tl">
                    <a:srgbClr val="000000">
                      <a:alpha val="43137"/>
                    </a:srgbClr>
                  </a:outerShdw>
                </a:effectLst>
              </a:rPr>
              <a:t>Assistant Professor</a:t>
            </a:r>
            <a:endParaRPr lang="en-IN" sz="1200" b="0" dirty="0"/>
          </a:p>
        </p:txBody>
      </p:sp>
      <p:sp>
        <p:nvSpPr>
          <p:cNvPr id="16" name="Subtitle 11">
            <a:extLst>
              <a:ext uri="{FF2B5EF4-FFF2-40B4-BE49-F238E27FC236}">
                <a16:creationId xmlns:a16="http://schemas.microsoft.com/office/drawing/2014/main" id="{363E658F-453B-50DE-4369-3E2866ACDFFC}"/>
              </a:ext>
            </a:extLst>
          </p:cNvPr>
          <p:cNvSpPr txBox="1"/>
          <p:nvPr/>
        </p:nvSpPr>
        <p:spPr>
          <a:xfrm>
            <a:off x="4537109" y="1605657"/>
            <a:ext cx="311775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B.ARAVIND KUMAR </a:t>
            </a:r>
          </a:p>
          <a:p>
            <a:pPr>
              <a:spcBef>
                <a:spcPts val="300"/>
              </a:spcBef>
            </a:pPr>
            <a:r>
              <a:rPr lang="en-US" sz="1300" b="0" dirty="0"/>
              <a:t>Roll No. 224G5A0505</a:t>
            </a:r>
          </a:p>
        </p:txBody>
      </p:sp>
      <p:sp>
        <p:nvSpPr>
          <p:cNvPr id="19" name="Subtitle 11">
            <a:extLst>
              <a:ext uri="{FF2B5EF4-FFF2-40B4-BE49-F238E27FC236}">
                <a16:creationId xmlns:a16="http://schemas.microsoft.com/office/drawing/2014/main" id="{BEBADD82-CD24-BA2E-59AD-CBB9C7FF664F}"/>
              </a:ext>
            </a:extLst>
          </p:cNvPr>
          <p:cNvSpPr txBox="1"/>
          <p:nvPr/>
        </p:nvSpPr>
        <p:spPr>
          <a:xfrm>
            <a:off x="7426132" y="3460766"/>
            <a:ext cx="2382924" cy="584534"/>
          </a:xfrm>
          <a:prstGeom prst="rect">
            <a:avLst/>
          </a:prstGeom>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endParaRPr lang="en-US" sz="5400" b="0" dirty="0">
              <a:effectLst>
                <a:outerShdw blurRad="38100" dist="38100" dir="2700000" algn="tl">
                  <a:srgbClr val="000000">
                    <a:alpha val="43137"/>
                  </a:srgbClr>
                </a:outerShdw>
              </a:effectLst>
            </a:endParaRPr>
          </a:p>
          <a:p>
            <a:pPr>
              <a:spcBef>
                <a:spcPts val="300"/>
              </a:spcBef>
            </a:pPr>
            <a:endParaRPr lang="en-US" sz="2800" b="0" dirty="0"/>
          </a:p>
        </p:txBody>
      </p:sp>
      <p:sp>
        <p:nvSpPr>
          <p:cNvPr id="20" name="Subtitle 11">
            <a:extLst>
              <a:ext uri="{FF2B5EF4-FFF2-40B4-BE49-F238E27FC236}">
                <a16:creationId xmlns:a16="http://schemas.microsoft.com/office/drawing/2014/main" id="{AF3DDFAD-6DEF-1182-B774-C482478BF137}"/>
              </a:ext>
            </a:extLst>
          </p:cNvPr>
          <p:cNvSpPr txBox="1"/>
          <p:nvPr/>
        </p:nvSpPr>
        <p:spPr>
          <a:xfrm>
            <a:off x="1523374" y="1623281"/>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K.M.THARUN</a:t>
            </a:r>
          </a:p>
          <a:p>
            <a:pPr>
              <a:spcBef>
                <a:spcPts val="300"/>
              </a:spcBef>
            </a:pPr>
            <a:r>
              <a:rPr lang="en-US" sz="1200" b="0" dirty="0"/>
              <a:t>Roll No. 234G5A0515</a:t>
            </a:r>
          </a:p>
        </p:txBody>
      </p:sp>
      <p:sp>
        <p:nvSpPr>
          <p:cNvPr id="21" name="Subtitle 11">
            <a:extLst>
              <a:ext uri="{FF2B5EF4-FFF2-40B4-BE49-F238E27FC236}">
                <a16:creationId xmlns:a16="http://schemas.microsoft.com/office/drawing/2014/main" id="{3A560B5D-3EA9-25B3-D16B-EB1A59CC7721}"/>
              </a:ext>
            </a:extLst>
          </p:cNvPr>
          <p:cNvSpPr txBox="1"/>
          <p:nvPr/>
        </p:nvSpPr>
        <p:spPr>
          <a:xfrm>
            <a:off x="8522718" y="1624469"/>
            <a:ext cx="2382924" cy="584534"/>
          </a:xfrm>
          <a:prstGeom prst="rect">
            <a:avLst/>
          </a:prstGeom>
        </p:spPr>
        <p:txBody>
          <a:bodyPr vert="horz" lIns="91440" tIns="45720" rIns="91440" bIns="45720" rtlCol="0">
            <a:normAutofit fontScale="4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5100" b="0" dirty="0">
                <a:effectLst>
                  <a:outerShdw blurRad="38100" dist="38100" dir="2700000" algn="tl">
                    <a:srgbClr val="000000">
                      <a:alpha val="43137"/>
                    </a:srgbClr>
                  </a:outerShdw>
                </a:effectLst>
              </a:rPr>
              <a:t>B.KEERTHI </a:t>
            </a:r>
            <a:endParaRPr lang="en-US" sz="5100" b="0" dirty="0">
              <a:effectLst>
                <a:outerShdw blurRad="38100" dist="38100" dir="2700000" algn="tl">
                  <a:srgbClr val="000000">
                    <a:alpha val="43137"/>
                  </a:srgbClr>
                </a:outerShdw>
              </a:effectLst>
            </a:endParaRPr>
          </a:p>
          <a:p>
            <a:pPr>
              <a:spcBef>
                <a:spcPts val="300"/>
              </a:spcBef>
            </a:pPr>
            <a:r>
              <a:rPr lang="en-US" sz="2800" b="0" dirty="0"/>
              <a:t>Roll No. </a:t>
            </a:r>
            <a:r>
              <a:rPr lang="en-US" b="0" dirty="0"/>
              <a:t>224G1A0536</a:t>
            </a:r>
            <a:endParaRPr lang="en-US" sz="2800" b="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B6763-B2A1-8BF9-AA55-65B939CA531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4C2D960-7553-39CB-22B5-9CEB4C3A5166}"/>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9C74C0B-82B1-C080-661A-99714B1C068C}"/>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B13</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46B4EA8-A61C-DDE2-235C-6BAF76E7B462}"/>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B2CE431-9087-C25C-F7FD-23F6F262C481}"/>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DA23EB1F-302D-FBE9-9217-3CC3557AF444}"/>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02</a:t>
            </a:r>
          </a:p>
        </p:txBody>
      </p:sp>
      <p:sp>
        <p:nvSpPr>
          <p:cNvPr id="16" name="TextBox 15">
            <a:extLst>
              <a:ext uri="{FF2B5EF4-FFF2-40B4-BE49-F238E27FC236}">
                <a16:creationId xmlns:a16="http://schemas.microsoft.com/office/drawing/2014/main" id="{5356D09B-5C60-8305-454D-9414CDC195DE}"/>
              </a:ext>
            </a:extLst>
          </p:cNvPr>
          <p:cNvSpPr txBox="1"/>
          <p:nvPr/>
        </p:nvSpPr>
        <p:spPr>
          <a:xfrm>
            <a:off x="304800" y="409825"/>
            <a:ext cx="7315200" cy="707886"/>
          </a:xfrm>
          <a:prstGeom prst="rect">
            <a:avLst/>
          </a:prstGeom>
          <a:noFill/>
        </p:spPr>
        <p:txBody>
          <a:bodyPr wrap="square" rtlCol="0">
            <a:spAutoFit/>
          </a:bodyPr>
          <a:lstStyle/>
          <a:p>
            <a:r>
              <a:rPr lang="en-IN" sz="4000" dirty="0">
                <a:solidFill>
                  <a:schemeClr val="bg1"/>
                </a:solidFill>
                <a:latin typeface="Times New Roman" panose="02020603050405020304" pitchFamily="18" charset="0"/>
                <a:cs typeface="Times New Roman" panose="02020603050405020304" pitchFamily="18" charset="0"/>
              </a:rPr>
              <a:t>Contents</a:t>
            </a:r>
          </a:p>
        </p:txBody>
      </p:sp>
      <p:sp>
        <p:nvSpPr>
          <p:cNvPr id="20" name="TextBox 19">
            <a:extLst>
              <a:ext uri="{FF2B5EF4-FFF2-40B4-BE49-F238E27FC236}">
                <a16:creationId xmlns:a16="http://schemas.microsoft.com/office/drawing/2014/main" id="{43587588-20A2-72BD-5959-4D871FD5EFE2}"/>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Smart stress detection and relief system using voice and image processing</a:t>
            </a:r>
            <a:endParaRPr lang="en-IN" sz="1400" dirty="0"/>
          </a:p>
        </p:txBody>
      </p:sp>
      <p:sp>
        <p:nvSpPr>
          <p:cNvPr id="21" name="TextBox 20">
            <a:extLst>
              <a:ext uri="{FF2B5EF4-FFF2-40B4-BE49-F238E27FC236}">
                <a16:creationId xmlns:a16="http://schemas.microsoft.com/office/drawing/2014/main" id="{75AD3071-C62A-A5E3-BE52-8F1D1C680D6F}"/>
              </a:ext>
            </a:extLst>
          </p:cNvPr>
          <p:cNvSpPr txBox="1"/>
          <p:nvPr/>
        </p:nvSpPr>
        <p:spPr>
          <a:xfrm>
            <a:off x="152400" y="1295400"/>
            <a:ext cx="11430000" cy="4688463"/>
          </a:xfrm>
          <a:prstGeom prst="rect">
            <a:avLst/>
          </a:prstGeom>
          <a:noFill/>
        </p:spPr>
        <p:txBody>
          <a:bodyPr wrap="square" rtlCol="0">
            <a:spAutoFit/>
          </a:bodyPr>
          <a:lstStyle/>
          <a:p>
            <a:pPr marL="421005" indent="-408305">
              <a:lnSpc>
                <a:spcPct val="100000"/>
              </a:lnSpc>
              <a:spcBef>
                <a:spcPts val="760"/>
              </a:spcBef>
              <a:buChar char="•"/>
              <a:tabLst>
                <a:tab pos="421005" algn="l"/>
              </a:tabLst>
            </a:pPr>
            <a:r>
              <a:rPr lang="en-US" sz="2800" dirty="0">
                <a:latin typeface="Times New Roman"/>
                <a:cs typeface="Times New Roman"/>
              </a:rPr>
              <a:t>Title</a:t>
            </a:r>
            <a:r>
              <a:rPr lang="en-US" sz="2800" spc="-25" dirty="0">
                <a:latin typeface="Times New Roman"/>
                <a:cs typeface="Times New Roman"/>
              </a:rPr>
              <a:t> </a:t>
            </a:r>
            <a:r>
              <a:rPr lang="en-US" sz="2800" spc="-10" dirty="0">
                <a:latin typeface="Times New Roman"/>
                <a:cs typeface="Times New Roman"/>
              </a:rPr>
              <a:t>Justification</a:t>
            </a:r>
            <a:endParaRPr lang="en-US" sz="2800" dirty="0">
              <a:latin typeface="Times New Roman"/>
              <a:cs typeface="Times New Roman"/>
            </a:endParaRPr>
          </a:p>
          <a:p>
            <a:pPr marL="421005" indent="-408305">
              <a:lnSpc>
                <a:spcPct val="100000"/>
              </a:lnSpc>
              <a:spcBef>
                <a:spcPts val="665"/>
              </a:spcBef>
              <a:buChar char="•"/>
              <a:tabLst>
                <a:tab pos="421005" algn="l"/>
              </a:tabLst>
            </a:pPr>
            <a:r>
              <a:rPr lang="en-US" sz="2800" spc="-10" dirty="0">
                <a:latin typeface="Times New Roman"/>
                <a:cs typeface="Times New Roman"/>
              </a:rPr>
              <a:t>Abstract</a:t>
            </a:r>
            <a:endParaRPr lang="en-US" sz="2800" dirty="0">
              <a:latin typeface="Times New Roman"/>
              <a:cs typeface="Times New Roman"/>
            </a:endParaRPr>
          </a:p>
          <a:p>
            <a:pPr marL="421005" indent="-408305">
              <a:lnSpc>
                <a:spcPct val="100000"/>
              </a:lnSpc>
              <a:spcBef>
                <a:spcPts val="665"/>
              </a:spcBef>
              <a:buChar char="•"/>
              <a:tabLst>
                <a:tab pos="421005" algn="l"/>
              </a:tabLst>
            </a:pPr>
            <a:r>
              <a:rPr lang="en-US" sz="2800" dirty="0">
                <a:latin typeface="Times New Roman"/>
                <a:cs typeface="Times New Roman"/>
              </a:rPr>
              <a:t>Problem</a:t>
            </a:r>
            <a:r>
              <a:rPr lang="en-US" sz="2800" spc="-35" dirty="0">
                <a:latin typeface="Times New Roman"/>
                <a:cs typeface="Times New Roman"/>
              </a:rPr>
              <a:t> </a:t>
            </a:r>
            <a:r>
              <a:rPr lang="en-US" sz="2800" spc="-10" dirty="0">
                <a:latin typeface="Times New Roman"/>
                <a:cs typeface="Times New Roman"/>
              </a:rPr>
              <a:t>statement</a:t>
            </a:r>
            <a:endParaRPr lang="en-US" sz="2800" dirty="0">
              <a:latin typeface="Times New Roman"/>
              <a:cs typeface="Times New Roman"/>
            </a:endParaRPr>
          </a:p>
          <a:p>
            <a:pPr marL="421005" indent="-408305">
              <a:lnSpc>
                <a:spcPct val="100000"/>
              </a:lnSpc>
              <a:spcBef>
                <a:spcPts val="665"/>
              </a:spcBef>
              <a:buChar char="•"/>
              <a:tabLst>
                <a:tab pos="421005" algn="l"/>
              </a:tabLst>
            </a:pPr>
            <a:r>
              <a:rPr lang="en-US" sz="2800" dirty="0">
                <a:latin typeface="Times New Roman"/>
                <a:cs typeface="Times New Roman"/>
              </a:rPr>
              <a:t>Objectives</a:t>
            </a:r>
            <a:r>
              <a:rPr lang="en-US" sz="2800" spc="-40" dirty="0">
                <a:latin typeface="Times New Roman"/>
                <a:cs typeface="Times New Roman"/>
              </a:rPr>
              <a:t> </a:t>
            </a:r>
            <a:r>
              <a:rPr lang="en-US" sz="2800" dirty="0">
                <a:latin typeface="Times New Roman"/>
                <a:cs typeface="Times New Roman"/>
              </a:rPr>
              <a:t>of</a:t>
            </a:r>
            <a:r>
              <a:rPr lang="en-US" sz="2800" spc="-35" dirty="0">
                <a:latin typeface="Times New Roman"/>
                <a:cs typeface="Times New Roman"/>
              </a:rPr>
              <a:t> </a:t>
            </a:r>
            <a:r>
              <a:rPr lang="en-US" sz="2800" spc="-10" dirty="0">
                <a:latin typeface="Times New Roman"/>
                <a:cs typeface="Times New Roman"/>
              </a:rPr>
              <a:t>Project</a:t>
            </a:r>
            <a:endParaRPr lang="en-US" sz="2800" dirty="0">
              <a:latin typeface="Times New Roman"/>
              <a:cs typeface="Times New Roman"/>
            </a:endParaRPr>
          </a:p>
          <a:p>
            <a:pPr marL="421005" indent="-408305">
              <a:lnSpc>
                <a:spcPct val="100000"/>
              </a:lnSpc>
              <a:spcBef>
                <a:spcPts val="665"/>
              </a:spcBef>
              <a:buChar char="•"/>
              <a:tabLst>
                <a:tab pos="421005" algn="l"/>
              </a:tabLst>
            </a:pPr>
            <a:r>
              <a:rPr lang="en-US" sz="2800" dirty="0">
                <a:latin typeface="Times New Roman"/>
                <a:cs typeface="Times New Roman"/>
              </a:rPr>
              <a:t>Literature</a:t>
            </a:r>
            <a:r>
              <a:rPr lang="en-US" sz="2800" spc="-35" dirty="0">
                <a:latin typeface="Times New Roman"/>
                <a:cs typeface="Times New Roman"/>
              </a:rPr>
              <a:t> </a:t>
            </a:r>
            <a:r>
              <a:rPr lang="en-US" sz="2800" dirty="0">
                <a:latin typeface="Times New Roman"/>
                <a:cs typeface="Times New Roman"/>
              </a:rPr>
              <a:t>survey</a:t>
            </a:r>
            <a:r>
              <a:rPr lang="en-US" sz="2800" spc="-25" dirty="0">
                <a:latin typeface="Times New Roman"/>
                <a:cs typeface="Times New Roman"/>
              </a:rPr>
              <a:t> </a:t>
            </a:r>
            <a:r>
              <a:rPr lang="en-US" sz="2800" dirty="0">
                <a:latin typeface="Times New Roman"/>
                <a:cs typeface="Times New Roman"/>
              </a:rPr>
              <a:t>for</a:t>
            </a:r>
            <a:r>
              <a:rPr lang="en-US" sz="2800" spc="-25" dirty="0">
                <a:latin typeface="Times New Roman"/>
                <a:cs typeface="Times New Roman"/>
              </a:rPr>
              <a:t> </a:t>
            </a:r>
            <a:r>
              <a:rPr lang="en-US" sz="2800" spc="-10" dirty="0">
                <a:latin typeface="Times New Roman"/>
                <a:cs typeface="Times New Roman"/>
              </a:rPr>
              <a:t>objectives</a:t>
            </a:r>
            <a:endParaRPr lang="en-US" sz="2800" dirty="0">
              <a:latin typeface="Times New Roman"/>
              <a:cs typeface="Times New Roman"/>
            </a:endParaRPr>
          </a:p>
          <a:p>
            <a:pPr marL="421005" indent="-408305">
              <a:lnSpc>
                <a:spcPct val="100000"/>
              </a:lnSpc>
              <a:spcBef>
                <a:spcPts val="660"/>
              </a:spcBef>
              <a:buChar char="•"/>
              <a:tabLst>
                <a:tab pos="421005" algn="l"/>
              </a:tabLst>
            </a:pPr>
            <a:r>
              <a:rPr lang="en-US" sz="2800" dirty="0">
                <a:latin typeface="Times New Roman"/>
                <a:cs typeface="Times New Roman"/>
              </a:rPr>
              <a:t>Proposed</a:t>
            </a:r>
            <a:r>
              <a:rPr lang="en-US" sz="2800" spc="-25" dirty="0">
                <a:latin typeface="Times New Roman"/>
                <a:cs typeface="Times New Roman"/>
              </a:rPr>
              <a:t> </a:t>
            </a:r>
            <a:r>
              <a:rPr lang="en-US" sz="2800" dirty="0">
                <a:latin typeface="Times New Roman"/>
                <a:cs typeface="Times New Roman"/>
              </a:rPr>
              <a:t>Work</a:t>
            </a:r>
            <a:r>
              <a:rPr lang="en-US" sz="2800" spc="-20" dirty="0">
                <a:latin typeface="Times New Roman"/>
                <a:cs typeface="Times New Roman"/>
              </a:rPr>
              <a:t> </a:t>
            </a:r>
            <a:r>
              <a:rPr lang="en-US" sz="2800" spc="-10" dirty="0">
                <a:latin typeface="Times New Roman"/>
                <a:cs typeface="Times New Roman"/>
              </a:rPr>
              <a:t>-</a:t>
            </a:r>
            <a:r>
              <a:rPr lang="en-US" sz="2800" dirty="0">
                <a:latin typeface="Times New Roman"/>
                <a:cs typeface="Times New Roman"/>
              </a:rPr>
              <a:t>(Methods</a:t>
            </a:r>
            <a:r>
              <a:rPr lang="en-US" sz="2800" spc="-25" dirty="0">
                <a:latin typeface="Times New Roman"/>
                <a:cs typeface="Times New Roman"/>
              </a:rPr>
              <a:t> </a:t>
            </a:r>
            <a:r>
              <a:rPr lang="en-US" sz="2800" dirty="0">
                <a:latin typeface="Times New Roman"/>
                <a:cs typeface="Times New Roman"/>
              </a:rPr>
              <a:t>to</a:t>
            </a:r>
            <a:r>
              <a:rPr lang="en-US" sz="2800" spc="-25" dirty="0">
                <a:latin typeface="Times New Roman"/>
                <a:cs typeface="Times New Roman"/>
              </a:rPr>
              <a:t> </a:t>
            </a:r>
            <a:r>
              <a:rPr lang="en-US" sz="2800" dirty="0">
                <a:latin typeface="Times New Roman"/>
                <a:cs typeface="Times New Roman"/>
              </a:rPr>
              <a:t>be</a:t>
            </a:r>
            <a:r>
              <a:rPr lang="en-US" sz="2800" spc="-25" dirty="0">
                <a:latin typeface="Times New Roman"/>
                <a:cs typeface="Times New Roman"/>
              </a:rPr>
              <a:t> </a:t>
            </a:r>
            <a:r>
              <a:rPr lang="en-US" sz="2800" dirty="0">
                <a:latin typeface="Times New Roman"/>
                <a:cs typeface="Times New Roman"/>
              </a:rPr>
              <a:t>followed</a:t>
            </a:r>
            <a:r>
              <a:rPr lang="en-US" sz="2800" spc="-20" dirty="0">
                <a:latin typeface="Times New Roman"/>
                <a:cs typeface="Times New Roman"/>
              </a:rPr>
              <a:t> </a:t>
            </a:r>
            <a:r>
              <a:rPr lang="en-US" sz="2800" dirty="0">
                <a:latin typeface="Times New Roman"/>
                <a:cs typeface="Times New Roman"/>
              </a:rPr>
              <a:t>for</a:t>
            </a:r>
            <a:r>
              <a:rPr lang="en-US" sz="2800" spc="-25" dirty="0">
                <a:latin typeface="Times New Roman"/>
                <a:cs typeface="Times New Roman"/>
              </a:rPr>
              <a:t> </a:t>
            </a:r>
            <a:r>
              <a:rPr lang="en-US" sz="2800" dirty="0">
                <a:latin typeface="Times New Roman"/>
                <a:cs typeface="Times New Roman"/>
              </a:rPr>
              <a:t>proposed</a:t>
            </a:r>
            <a:r>
              <a:rPr lang="en-US" sz="2800" spc="-20" dirty="0">
                <a:latin typeface="Times New Roman"/>
                <a:cs typeface="Times New Roman"/>
              </a:rPr>
              <a:t> </a:t>
            </a:r>
            <a:r>
              <a:rPr lang="en-US" sz="2800" spc="-10" dirty="0">
                <a:latin typeface="Times New Roman"/>
                <a:cs typeface="Times New Roman"/>
              </a:rPr>
              <a:t>system)</a:t>
            </a:r>
            <a:endParaRPr lang="en-US" sz="2800" dirty="0">
              <a:latin typeface="Times New Roman"/>
              <a:cs typeface="Times New Roman"/>
            </a:endParaRPr>
          </a:p>
          <a:p>
            <a:pPr marL="421005" indent="-408305">
              <a:lnSpc>
                <a:spcPct val="100000"/>
              </a:lnSpc>
              <a:spcBef>
                <a:spcPts val="665"/>
              </a:spcBef>
              <a:buChar char="•"/>
              <a:tabLst>
                <a:tab pos="421005" algn="l"/>
              </a:tabLst>
            </a:pPr>
            <a:r>
              <a:rPr lang="en-US" sz="2800" spc="-10" dirty="0">
                <a:latin typeface="Times New Roman"/>
                <a:cs typeface="Times New Roman"/>
              </a:rPr>
              <a:t>References</a:t>
            </a:r>
            <a:endParaRPr lang="en-US" sz="2800" dirty="0">
              <a:latin typeface="Times New Roman"/>
              <a:cs typeface="Times New Roman"/>
            </a:endParaRPr>
          </a:p>
          <a:p>
            <a:pPr marL="421005" indent="-408305">
              <a:lnSpc>
                <a:spcPct val="100000"/>
              </a:lnSpc>
              <a:spcBef>
                <a:spcPts val="665"/>
              </a:spcBef>
              <a:buChar char="•"/>
              <a:tabLst>
                <a:tab pos="421005" algn="l"/>
              </a:tabLst>
            </a:pPr>
            <a:r>
              <a:rPr lang="en-US" sz="2800" dirty="0">
                <a:latin typeface="Times New Roman"/>
                <a:cs typeface="Times New Roman"/>
              </a:rPr>
              <a:t>GitHub </a:t>
            </a:r>
            <a:r>
              <a:rPr lang="en-US" sz="2800" spc="-20" dirty="0">
                <a:latin typeface="Times New Roman"/>
                <a:cs typeface="Times New Roman"/>
              </a:rPr>
              <a:t>Link</a:t>
            </a:r>
            <a:endParaRPr lang="en-US" sz="2800" dirty="0">
              <a:latin typeface="Times New Roman"/>
              <a:cs typeface="Times New Roman"/>
            </a:endParaRPr>
          </a:p>
          <a:p>
            <a:pPr marL="421005" indent="-408305">
              <a:lnSpc>
                <a:spcPct val="100000"/>
              </a:lnSpc>
              <a:spcBef>
                <a:spcPts val="665"/>
              </a:spcBef>
              <a:buChar char="•"/>
              <a:tabLst>
                <a:tab pos="421005" algn="l"/>
              </a:tabLst>
            </a:pPr>
            <a:r>
              <a:rPr lang="en-US" sz="2800" spc="-10" dirty="0">
                <a:latin typeface="Times New Roman"/>
                <a:cs typeface="Times New Roman"/>
              </a:rPr>
              <a:t>Queries</a:t>
            </a:r>
            <a:endParaRPr lang="en-US" sz="2800" dirty="0">
              <a:latin typeface="Times New Roman"/>
              <a:cs typeface="Times New Roman"/>
            </a:endParaRPr>
          </a:p>
        </p:txBody>
      </p:sp>
    </p:spTree>
    <p:extLst>
      <p:ext uri="{BB962C8B-B14F-4D97-AF65-F5344CB8AC3E}">
        <p14:creationId xmlns:p14="http://schemas.microsoft.com/office/powerpoint/2010/main" val="2216668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A5DE1-A732-1C6F-F420-E0ABD25D0FF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E5B0B5B-F86C-722E-B13C-39A03A8108A4}"/>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65AF5E7-D309-9305-5795-61CA3367A99E}"/>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B13</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5386087-AA3B-8C77-D503-3E5C7E42D453}"/>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E14A66B-8779-1A43-26FB-747F8BC1CABC}"/>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C67DE36-41A8-4844-0A71-29B860450370}"/>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03</a:t>
            </a:r>
          </a:p>
        </p:txBody>
      </p:sp>
      <p:sp>
        <p:nvSpPr>
          <p:cNvPr id="16" name="TextBox 15">
            <a:extLst>
              <a:ext uri="{FF2B5EF4-FFF2-40B4-BE49-F238E27FC236}">
                <a16:creationId xmlns:a16="http://schemas.microsoft.com/office/drawing/2014/main" id="{C88F3F16-A834-03C5-EEF4-0BB436184D88}"/>
              </a:ext>
            </a:extLst>
          </p:cNvPr>
          <p:cNvSpPr txBox="1"/>
          <p:nvPr/>
        </p:nvSpPr>
        <p:spPr>
          <a:xfrm>
            <a:off x="304800" y="409825"/>
            <a:ext cx="7315200" cy="769441"/>
          </a:xfrm>
          <a:prstGeom prst="rect">
            <a:avLst/>
          </a:prstGeom>
          <a:noFill/>
        </p:spPr>
        <p:txBody>
          <a:bodyPr wrap="square" rtlCol="0">
            <a:spAutoFit/>
          </a:bodyPr>
          <a:lstStyle/>
          <a:p>
            <a:r>
              <a:rPr kumimoji="0" lang="en-IN" sz="4400" b="0" i="0" u="none" strike="noStrike" kern="0" cap="none" spc="0" normalizeH="0" baseline="0" noProof="0" dirty="0">
                <a:ln>
                  <a:noFill/>
                </a:ln>
                <a:solidFill>
                  <a:prstClr val="white"/>
                </a:solidFill>
                <a:effectLst/>
                <a:uLnTx/>
                <a:uFillTx/>
                <a:latin typeface="Times New Roman"/>
                <a:cs typeface="Times New Roman"/>
              </a:rPr>
              <a:t>Title</a:t>
            </a:r>
            <a:r>
              <a:rPr kumimoji="0" lang="en-IN" sz="4400" b="0" i="0" u="none" strike="noStrike" kern="0" cap="none" spc="-110" normalizeH="0" baseline="0" noProof="0" dirty="0">
                <a:ln>
                  <a:noFill/>
                </a:ln>
                <a:solidFill>
                  <a:prstClr val="white"/>
                </a:solidFill>
                <a:effectLst/>
                <a:uLnTx/>
                <a:uFillTx/>
                <a:latin typeface="Times New Roman"/>
                <a:cs typeface="Times New Roman"/>
              </a:rPr>
              <a:t> </a:t>
            </a:r>
            <a:r>
              <a:rPr kumimoji="0" lang="en-IN" sz="4400" b="0" i="0" u="none" strike="noStrike" kern="0" cap="none" spc="-10" normalizeH="0" baseline="0" noProof="0" dirty="0">
                <a:ln>
                  <a:noFill/>
                </a:ln>
                <a:solidFill>
                  <a:prstClr val="white"/>
                </a:solidFill>
                <a:effectLst/>
                <a:uLnTx/>
                <a:uFillTx/>
                <a:latin typeface="Times New Roman"/>
                <a:cs typeface="Times New Roman"/>
              </a:rPr>
              <a:t>Justification</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ED61D448-468B-5674-D714-E40EC5DC9E67}"/>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Smart stress detection and relief system using voice and image processing</a:t>
            </a:r>
            <a:endParaRPr lang="en-IN" dirty="0"/>
          </a:p>
        </p:txBody>
      </p:sp>
      <p:sp>
        <p:nvSpPr>
          <p:cNvPr id="21" name="TextBox 20">
            <a:extLst>
              <a:ext uri="{FF2B5EF4-FFF2-40B4-BE49-F238E27FC236}">
                <a16:creationId xmlns:a16="http://schemas.microsoft.com/office/drawing/2014/main" id="{68DC9E73-0520-4EAB-9A28-693E055BF638}"/>
              </a:ext>
            </a:extLst>
          </p:cNvPr>
          <p:cNvSpPr txBox="1"/>
          <p:nvPr/>
        </p:nvSpPr>
        <p:spPr>
          <a:xfrm>
            <a:off x="304799" y="1327957"/>
            <a:ext cx="11582401" cy="2547364"/>
          </a:xfrm>
          <a:prstGeom prst="rect">
            <a:avLst/>
          </a:prstGeom>
          <a:noFill/>
        </p:spPr>
        <p:txBody>
          <a:bodyPr wrap="square" rtlCol="0">
            <a:spAutoFit/>
          </a:bodyPr>
          <a:lstStyle/>
          <a:p>
            <a:pPr marL="0" marR="0" lvl="0" indent="0" algn="just" defTabSz="914400" eaLnBrk="1" fontAlgn="auto" latinLnBrk="0" hangingPunct="1">
              <a:lnSpc>
                <a:spcPct val="90000"/>
              </a:lnSpc>
              <a:spcBef>
                <a:spcPts val="1000"/>
              </a:spcBef>
              <a:spcAft>
                <a:spcPts val="0"/>
              </a:spcAft>
              <a:buClrTx/>
              <a:buSzTx/>
              <a:buFontTx/>
              <a:buNone/>
              <a:tabLst>
                <a:tab pos="0" algn="l"/>
              </a:tabLst>
              <a:defRPr/>
            </a:pPr>
            <a:r>
              <a:rPr kumimoji="0" lang="en-US" sz="2400" b="0" i="0" u="none" strike="noStrike" kern="0" cap="none" spc="-1" normalizeH="0" baseline="0" noProof="0" dirty="0">
                <a:ln>
                  <a:noFill/>
                </a:ln>
                <a:solidFill>
                  <a:srgbClr val="000000"/>
                </a:solidFill>
                <a:effectLst/>
                <a:uLnTx/>
                <a:uFillTx/>
                <a:latin typeface="Times New Roman" panose="02020603050405020304"/>
              </a:rPr>
              <a:t>The title “Smart stress detection and relief system using voice and image processing” is appropriate because the project focuses on detecting human stress levels by analyzing voice tone, speech patterns and facial expressions using machine learning.</a:t>
            </a:r>
          </a:p>
          <a:p>
            <a:pPr lvl="0" algn="just">
              <a:lnSpc>
                <a:spcPct val="90000"/>
              </a:lnSpc>
              <a:spcBef>
                <a:spcPts val="1000"/>
              </a:spcBef>
              <a:tabLst>
                <a:tab pos="0" algn="l"/>
              </a:tabLst>
              <a:defRPr/>
            </a:pPr>
            <a:r>
              <a:rPr kumimoji="0" lang="en-US" sz="2400" b="0" i="0" u="none" strike="noStrike" kern="0" cap="none" spc="-1" normalizeH="0" baseline="0" noProof="0" dirty="0">
                <a:ln>
                  <a:noFill/>
                </a:ln>
                <a:solidFill>
                  <a:srgbClr val="000000"/>
                </a:solidFill>
                <a:effectLst/>
                <a:uLnTx/>
                <a:uFillTx/>
                <a:latin typeface="Times New Roman" panose="02020603050405020304"/>
              </a:rPr>
              <a:t>The term “smart” highlights the use of ML models, </a:t>
            </a:r>
            <a:r>
              <a:rPr lang="en-US" sz="2400" kern="0" spc="-1" dirty="0">
                <a:solidFill>
                  <a:srgbClr val="000000"/>
                </a:solidFill>
                <a:latin typeface="Times New Roman" panose="02020603050405020304"/>
              </a:rPr>
              <a:t>while </a:t>
            </a:r>
            <a:r>
              <a:rPr kumimoji="0" lang="en-US" sz="2400" b="0" i="0" u="none" strike="noStrike" kern="0" cap="none" spc="-1" normalizeH="0" baseline="0" noProof="0" dirty="0">
                <a:ln>
                  <a:noFill/>
                </a:ln>
                <a:solidFill>
                  <a:srgbClr val="000000"/>
                </a:solidFill>
                <a:effectLst/>
                <a:uLnTx/>
                <a:uFillTx/>
                <a:latin typeface="Times New Roman" panose="02020603050405020304"/>
              </a:rPr>
              <a:t>“stress detection and relief” clearly describes the purpose of the system. The inclusion of </a:t>
            </a:r>
            <a:r>
              <a:rPr lang="en-US" sz="2400" kern="0" spc="-1" dirty="0">
                <a:solidFill>
                  <a:srgbClr val="000000"/>
                </a:solidFill>
                <a:latin typeface="Times New Roman" panose="02020603050405020304"/>
              </a:rPr>
              <a:t>“</a:t>
            </a:r>
            <a:r>
              <a:rPr kumimoji="0" lang="en-US" sz="2400" b="0" i="0" u="none" strike="noStrike" kern="0" cap="none" spc="-1" normalizeH="0" baseline="0" noProof="0" dirty="0">
                <a:ln>
                  <a:noFill/>
                </a:ln>
                <a:solidFill>
                  <a:srgbClr val="000000"/>
                </a:solidFill>
                <a:effectLst/>
                <a:uLnTx/>
                <a:uFillTx/>
                <a:latin typeface="Times New Roman" panose="02020603050405020304"/>
              </a:rPr>
              <a:t>voice and image processing</a:t>
            </a:r>
            <a:r>
              <a:rPr lang="en-US" sz="2400" kern="0" spc="-1" dirty="0">
                <a:solidFill>
                  <a:srgbClr val="000000"/>
                </a:solidFill>
                <a:latin typeface="Times New Roman" panose="02020603050405020304"/>
              </a:rPr>
              <a:t>”</a:t>
            </a:r>
            <a:r>
              <a:rPr kumimoji="0" lang="en-US" sz="2400" b="0" i="0" u="none" strike="noStrike" kern="0" cap="none" spc="-1" normalizeH="0" baseline="0" noProof="0" dirty="0">
                <a:ln>
                  <a:noFill/>
                </a:ln>
                <a:solidFill>
                  <a:srgbClr val="000000"/>
                </a:solidFill>
                <a:effectLst/>
                <a:uLnTx/>
                <a:uFillTx/>
                <a:latin typeface="Times New Roman" panose="02020603050405020304"/>
              </a:rPr>
              <a:t> reflects the multimodal nature of the approach. Thus, the title accurately represents the goals, technology, and functionalities of the project.</a:t>
            </a:r>
          </a:p>
        </p:txBody>
      </p:sp>
    </p:spTree>
    <p:extLst>
      <p:ext uri="{BB962C8B-B14F-4D97-AF65-F5344CB8AC3E}">
        <p14:creationId xmlns:p14="http://schemas.microsoft.com/office/powerpoint/2010/main" val="4109710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6B871-CA1E-4A1C-88AE-2D75C8B8683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D00B486-26E2-2550-06AB-20F80D5D8D64}"/>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FCD6390-E63F-32A4-A6FA-B50A338BFC72}"/>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B13</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F69A4FE-E0D5-D0DC-2FBC-3EC16C2DBC92}"/>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0F3F3F1-0E86-E505-5894-8119FD75C4C7}"/>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B5D450F-79CA-B5DB-9760-3C26E2548017}"/>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04</a:t>
            </a:r>
          </a:p>
        </p:txBody>
      </p:sp>
      <p:sp>
        <p:nvSpPr>
          <p:cNvPr id="16" name="TextBox 15">
            <a:extLst>
              <a:ext uri="{FF2B5EF4-FFF2-40B4-BE49-F238E27FC236}">
                <a16:creationId xmlns:a16="http://schemas.microsoft.com/office/drawing/2014/main" id="{B60E1A02-4B63-41C6-4DCC-AE922889FC27}"/>
              </a:ext>
            </a:extLst>
          </p:cNvPr>
          <p:cNvSpPr txBox="1"/>
          <p:nvPr/>
        </p:nvSpPr>
        <p:spPr>
          <a:xfrm>
            <a:off x="304800" y="409825"/>
            <a:ext cx="7315200" cy="769441"/>
          </a:xfrm>
          <a:prstGeom prst="rect">
            <a:avLst/>
          </a:prstGeom>
          <a:noFill/>
        </p:spPr>
        <p:txBody>
          <a:bodyPr wrap="square" rtlCol="0">
            <a:spAutoFit/>
          </a:bodyPr>
          <a:lstStyle/>
          <a:p>
            <a:r>
              <a:rPr kumimoji="0" lang="en-IN" sz="2800" b="0" i="0" u="none" strike="noStrike" kern="0" cap="none" spc="-10" normalizeH="0" baseline="0" noProof="0" dirty="0">
                <a:ln>
                  <a:noFill/>
                </a:ln>
                <a:solidFill>
                  <a:prstClr val="white"/>
                </a:solidFill>
                <a:effectLst/>
                <a:uLnTx/>
                <a:uFillTx/>
                <a:latin typeface="Times New Roman"/>
                <a:cs typeface="Times New Roman"/>
              </a:rPr>
              <a:t> </a:t>
            </a:r>
            <a:r>
              <a:rPr kumimoji="0" lang="en-IN" sz="4400" b="0" i="0" u="none" strike="noStrike" kern="0" cap="none" spc="-10" normalizeH="0" baseline="0" noProof="0" dirty="0">
                <a:ln>
                  <a:noFill/>
                </a:ln>
                <a:solidFill>
                  <a:prstClr val="white"/>
                </a:solidFill>
                <a:effectLst/>
                <a:uLnTx/>
                <a:uFillTx/>
                <a:latin typeface="Times New Roman"/>
                <a:cs typeface="Times New Roman"/>
              </a:rPr>
              <a:t>Abstract</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EE01B672-65A8-C080-1158-53A7475225DF}"/>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Smart stress detection and relief system using voice and image processing</a:t>
            </a:r>
            <a:endParaRPr lang="en-IN" dirty="0"/>
          </a:p>
        </p:txBody>
      </p:sp>
      <p:sp>
        <p:nvSpPr>
          <p:cNvPr id="21" name="TextBox 20">
            <a:extLst>
              <a:ext uri="{FF2B5EF4-FFF2-40B4-BE49-F238E27FC236}">
                <a16:creationId xmlns:a16="http://schemas.microsoft.com/office/drawing/2014/main" id="{66040105-609C-4A8C-F67F-A32087CC7439}"/>
              </a:ext>
            </a:extLst>
          </p:cNvPr>
          <p:cNvSpPr txBox="1"/>
          <p:nvPr/>
        </p:nvSpPr>
        <p:spPr>
          <a:xfrm>
            <a:off x="152400" y="1385426"/>
            <a:ext cx="11454378" cy="4594078"/>
          </a:xfrm>
          <a:prstGeom prst="rect">
            <a:avLst/>
          </a:prstGeom>
          <a:noFill/>
        </p:spPr>
        <p:txBody>
          <a:bodyPr wrap="square" rtlCol="0">
            <a:spAutoFit/>
          </a:bodyPr>
          <a:lstStyle/>
          <a:p>
            <a:pPr marL="342900" marR="0" lvl="0" indent="-342900" algn="just" defTabSz="91440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0" cap="none" spc="-1" normalizeH="0" baseline="0" noProof="0" dirty="0">
                <a:ln>
                  <a:noFill/>
                </a:ln>
                <a:solidFill>
                  <a:srgbClr val="000000"/>
                </a:solidFill>
                <a:effectLst/>
                <a:uLnTx/>
                <a:uFillTx/>
                <a:latin typeface="Times New Roman" panose="02020603050405020304"/>
              </a:rPr>
              <a:t>Stress has become a common issue due to increasing mental pressures, creating a need for automated systems that can detect mental strain accurately. This project is aimed at identifying stress levels through natural human cues.</a:t>
            </a:r>
          </a:p>
          <a:p>
            <a:pPr marL="342900" marR="0" lvl="0" indent="-342900" algn="just" defTabSz="91440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0" cap="none" spc="-1" normalizeH="0" baseline="0" noProof="0" dirty="0">
                <a:ln>
                  <a:noFill/>
                </a:ln>
                <a:solidFill>
                  <a:srgbClr val="000000"/>
                </a:solidFill>
                <a:effectLst/>
                <a:uLnTx/>
                <a:uFillTx/>
                <a:latin typeface="Times New Roman" panose="02020603050405020304"/>
              </a:rPr>
              <a:t>The objective is to develop a multimodal system that analyzes facial expressions using CNNs and voice patterns using LSTM-based speech analysis. </a:t>
            </a:r>
          </a:p>
          <a:p>
            <a:pPr marL="342900" marR="0" lvl="0" indent="-342900" algn="just" defTabSz="91440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0" cap="none" spc="-1" normalizeH="0" baseline="0" noProof="0" dirty="0">
                <a:ln>
                  <a:noFill/>
                </a:ln>
                <a:solidFill>
                  <a:srgbClr val="000000"/>
                </a:solidFill>
                <a:effectLst/>
                <a:uLnTx/>
                <a:uFillTx/>
                <a:latin typeface="Times New Roman" panose="02020603050405020304"/>
              </a:rPr>
              <a:t>The system processes these signals to classify stress </a:t>
            </a:r>
            <a:r>
              <a:rPr lang="en-US" sz="2400" kern="0" spc="-1" dirty="0">
                <a:solidFill>
                  <a:srgbClr val="000000"/>
                </a:solidFill>
                <a:latin typeface="Times New Roman" panose="02020603050405020304"/>
              </a:rPr>
              <a:t>levels</a:t>
            </a:r>
            <a:r>
              <a:rPr kumimoji="0" lang="en-US" sz="2400" b="0" i="0" u="none" strike="noStrike" kern="0" cap="none" spc="-1" normalizeH="0" baseline="0" noProof="0" dirty="0">
                <a:ln>
                  <a:noFill/>
                </a:ln>
                <a:solidFill>
                  <a:srgbClr val="000000"/>
                </a:solidFill>
                <a:effectLst/>
                <a:uLnTx/>
                <a:uFillTx/>
                <a:latin typeface="Times New Roman" panose="02020603050405020304"/>
              </a:rPr>
              <a:t> and provides suitable stress-relief suggestions.</a:t>
            </a:r>
          </a:p>
          <a:p>
            <a:pPr marL="342900" marR="0" lvl="0" indent="-342900" algn="just" defTabSz="91440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0" cap="none" spc="-1" normalizeH="0" baseline="0" noProof="0" dirty="0">
                <a:ln>
                  <a:noFill/>
                </a:ln>
                <a:solidFill>
                  <a:srgbClr val="000000"/>
                </a:solidFill>
                <a:effectLst/>
                <a:uLnTx/>
                <a:uFillTx/>
                <a:latin typeface="Times New Roman" panose="02020603050405020304"/>
              </a:rPr>
              <a:t>By integrating image and voice processing with machine learning, this project demonstrates an effective and user-centric approach to early stress identification.</a:t>
            </a:r>
          </a:p>
          <a:p>
            <a:pPr marL="342900" marR="0" lvl="0" indent="-342900" algn="just" defTabSz="91440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0" cap="none" spc="-1" normalizeH="0" baseline="0" noProof="0" dirty="0">
                <a:ln>
                  <a:noFill/>
                </a:ln>
                <a:solidFill>
                  <a:srgbClr val="000000"/>
                </a:solidFill>
                <a:effectLst/>
                <a:uLnTx/>
                <a:uFillTx/>
                <a:latin typeface="Times New Roman" panose="02020603050405020304"/>
              </a:rPr>
              <a:t>The system has potential applications in educational institutions, workplaces, mental health monitoring tools, and personal wellness systems, making stress management more accessible and intelligent. </a:t>
            </a:r>
          </a:p>
        </p:txBody>
      </p:sp>
    </p:spTree>
    <p:extLst>
      <p:ext uri="{BB962C8B-B14F-4D97-AF65-F5344CB8AC3E}">
        <p14:creationId xmlns:p14="http://schemas.microsoft.com/office/powerpoint/2010/main" val="1508854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A7939-BD59-29F2-84D0-A5C57644882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45BF57-1113-19FC-DF2A-3D8DBE683709}"/>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770F1E4-7F59-F59D-176F-3A5063E0E655}"/>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B13</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8EC6AE4-ACE3-4D0B-AA99-05145579BB54}"/>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A79681A-9F71-03F5-44D2-6DE1B14709F9}"/>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411E0949-0F2C-0AEE-365D-FF86705CCF24}"/>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05</a:t>
            </a:r>
          </a:p>
        </p:txBody>
      </p:sp>
      <p:sp>
        <p:nvSpPr>
          <p:cNvPr id="16" name="TextBox 15">
            <a:extLst>
              <a:ext uri="{FF2B5EF4-FFF2-40B4-BE49-F238E27FC236}">
                <a16:creationId xmlns:a16="http://schemas.microsoft.com/office/drawing/2014/main" id="{69CA9AA0-F742-7169-8320-19996CD211F5}"/>
              </a:ext>
            </a:extLst>
          </p:cNvPr>
          <p:cNvSpPr txBox="1"/>
          <p:nvPr/>
        </p:nvSpPr>
        <p:spPr>
          <a:xfrm>
            <a:off x="304800" y="409825"/>
            <a:ext cx="7315200" cy="769441"/>
          </a:xfrm>
          <a:prstGeom prst="rect">
            <a:avLst/>
          </a:prstGeom>
          <a:noFill/>
        </p:spPr>
        <p:txBody>
          <a:bodyPr wrap="square" rtlCol="0">
            <a:spAutoFit/>
          </a:bodyPr>
          <a:lstStyle/>
          <a:p>
            <a:r>
              <a:rPr kumimoji="0" lang="en-IN" sz="4400" b="0" i="0" u="none" strike="noStrike" kern="0" cap="none" spc="0" normalizeH="0" baseline="0" noProof="0" dirty="0">
                <a:ln>
                  <a:noFill/>
                </a:ln>
                <a:solidFill>
                  <a:prstClr val="white"/>
                </a:solidFill>
                <a:effectLst/>
                <a:uLnTx/>
                <a:uFillTx/>
                <a:latin typeface="Times New Roman"/>
                <a:cs typeface="Times New Roman"/>
              </a:rPr>
              <a:t>Problem</a:t>
            </a:r>
            <a:r>
              <a:rPr kumimoji="0" lang="en-IN" sz="4400" b="0" i="0" u="none" strike="noStrike" kern="0" cap="none" spc="-185" normalizeH="0" baseline="0" noProof="0" dirty="0">
                <a:ln>
                  <a:noFill/>
                </a:ln>
                <a:solidFill>
                  <a:prstClr val="white"/>
                </a:solidFill>
                <a:effectLst/>
                <a:uLnTx/>
                <a:uFillTx/>
                <a:latin typeface="Times New Roman"/>
                <a:cs typeface="Times New Roman"/>
              </a:rPr>
              <a:t> </a:t>
            </a:r>
            <a:r>
              <a:rPr kumimoji="0" lang="en-IN" sz="4400" b="0" i="0" u="none" strike="noStrike" kern="0" cap="none" spc="-10" normalizeH="0" baseline="0" noProof="0" dirty="0">
                <a:ln>
                  <a:noFill/>
                </a:ln>
                <a:solidFill>
                  <a:prstClr val="white"/>
                </a:solidFill>
                <a:effectLst/>
                <a:uLnTx/>
                <a:uFillTx/>
                <a:latin typeface="Times New Roman"/>
                <a:cs typeface="Times New Roman"/>
              </a:rPr>
              <a:t>Statement</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C6723324-F584-9B5B-CE51-C2EF8EFD8C48}"/>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Smart stress detection and relief system using voice and image processing</a:t>
            </a:r>
            <a:endParaRPr lang="en-IN" dirty="0"/>
          </a:p>
        </p:txBody>
      </p:sp>
      <p:sp>
        <p:nvSpPr>
          <p:cNvPr id="21" name="TextBox 20">
            <a:extLst>
              <a:ext uri="{FF2B5EF4-FFF2-40B4-BE49-F238E27FC236}">
                <a16:creationId xmlns:a16="http://schemas.microsoft.com/office/drawing/2014/main" id="{55E75371-54F1-B9AA-D5D0-72497A1AF2FD}"/>
              </a:ext>
            </a:extLst>
          </p:cNvPr>
          <p:cNvSpPr txBox="1"/>
          <p:nvPr/>
        </p:nvSpPr>
        <p:spPr>
          <a:xfrm>
            <a:off x="304800" y="1327957"/>
            <a:ext cx="11454377" cy="3468642"/>
          </a:xfrm>
          <a:prstGeom prst="rect">
            <a:avLst/>
          </a:prstGeom>
          <a:noFill/>
        </p:spPr>
        <p:txBody>
          <a:bodyPr wrap="square" rtlCol="0">
            <a:spAutoFit/>
          </a:bodyPr>
          <a:lstStyle/>
          <a:p>
            <a:pPr marL="457200" marR="0" lvl="0" indent="-457200" algn="just" defTabSz="914400" eaLnBrk="1" fontAlgn="auto" latinLnBrk="0" hangingPunct="1">
              <a:lnSpc>
                <a:spcPct val="90000"/>
              </a:lnSpc>
              <a:spcBef>
                <a:spcPts val="1000"/>
              </a:spcBef>
              <a:spcAft>
                <a:spcPts val="0"/>
              </a:spcAft>
              <a:buClr>
                <a:srgbClr val="000000"/>
              </a:buClr>
              <a:buSzTx/>
              <a:buFont typeface="Arial" panose="020B0604020202020204" pitchFamily="34" charset="0"/>
              <a:buChar char="•"/>
              <a:tabLst/>
              <a:defRPr/>
            </a:pPr>
            <a:r>
              <a:rPr kumimoji="0" lang="en-US" sz="2400" b="0" i="0" u="none" strike="noStrike" kern="0" cap="none" spc="-1" normalizeH="0" baseline="0" noProof="0" dirty="0">
                <a:ln>
                  <a:noFill/>
                </a:ln>
                <a:solidFill>
                  <a:srgbClr val="000000"/>
                </a:solidFill>
                <a:effectLst/>
                <a:uLnTx/>
                <a:uFillTx/>
                <a:latin typeface="Times New Roman" panose="02020603050405020304"/>
              </a:rPr>
              <a:t>Stress is a major issue affecting students, employees, and individuals due to fast-paced lifestyles. Traditional stress assessment methods rely on manual observation, self-reporting, or clinical tests, which are often inaccurate or inaccessible.</a:t>
            </a:r>
          </a:p>
          <a:p>
            <a:pPr marL="457200" marR="0" lvl="0" indent="-457200" algn="just" defTabSz="914400" eaLnBrk="1" fontAlgn="auto" latinLnBrk="0" hangingPunct="1">
              <a:lnSpc>
                <a:spcPct val="90000"/>
              </a:lnSpc>
              <a:spcBef>
                <a:spcPts val="1000"/>
              </a:spcBef>
              <a:spcAft>
                <a:spcPts val="0"/>
              </a:spcAft>
              <a:buClr>
                <a:srgbClr val="000000"/>
              </a:buClr>
              <a:buSzTx/>
              <a:buFont typeface="Arial" panose="020B0604020202020204" pitchFamily="34" charset="0"/>
              <a:buChar char="•"/>
              <a:tabLst/>
              <a:defRPr/>
            </a:pPr>
            <a:r>
              <a:rPr kumimoji="0" lang="en-US" sz="2400" b="0" i="0" u="none" strike="noStrike" kern="0" cap="none" spc="-1" normalizeH="0" baseline="0" noProof="0" dirty="0">
                <a:ln>
                  <a:noFill/>
                </a:ln>
                <a:solidFill>
                  <a:srgbClr val="000000"/>
                </a:solidFill>
                <a:effectLst/>
                <a:uLnTx/>
                <a:uFillTx/>
                <a:latin typeface="Times New Roman" panose="02020603050405020304"/>
              </a:rPr>
              <a:t>Human stress can be reflected in voice variations (pitch, tone, pace) and facial patterns (muscle tension, expressions), but these signals are rarely analyzed automatically.</a:t>
            </a:r>
          </a:p>
          <a:p>
            <a:pPr marL="457200" marR="0" lvl="0" indent="-457200" algn="just" defTabSz="914400" eaLnBrk="1" fontAlgn="auto" latinLnBrk="0" hangingPunct="1">
              <a:lnSpc>
                <a:spcPct val="90000"/>
              </a:lnSpc>
              <a:spcBef>
                <a:spcPts val="1000"/>
              </a:spcBef>
              <a:spcAft>
                <a:spcPts val="0"/>
              </a:spcAft>
              <a:buClr>
                <a:srgbClr val="000000"/>
              </a:buClr>
              <a:buSzTx/>
              <a:buFont typeface="Arial" panose="020B0604020202020204" pitchFamily="34" charset="0"/>
              <a:buChar char="•"/>
              <a:tabLst/>
              <a:defRPr/>
            </a:pPr>
            <a:r>
              <a:rPr kumimoji="0" lang="en-US" sz="2400" b="0" i="0" u="none" strike="noStrike" kern="0" cap="none" spc="-1" normalizeH="0" baseline="0" noProof="0" dirty="0">
                <a:ln>
                  <a:noFill/>
                </a:ln>
                <a:solidFill>
                  <a:srgbClr val="000000"/>
                </a:solidFill>
                <a:effectLst/>
                <a:uLnTx/>
                <a:uFillTx/>
                <a:latin typeface="Times New Roman" panose="02020603050405020304"/>
              </a:rPr>
              <a:t>There is a need for a smart, automated, and real-time system that detects stress using natural human cues and provides timely guidance to reduce it.</a:t>
            </a:r>
          </a:p>
          <a:p>
            <a:pPr marL="457200" marR="0" lvl="0" indent="-457200" algn="just" defTabSz="914400" eaLnBrk="1" fontAlgn="auto" latinLnBrk="0" hangingPunct="1">
              <a:lnSpc>
                <a:spcPct val="90000"/>
              </a:lnSpc>
              <a:spcBef>
                <a:spcPts val="1000"/>
              </a:spcBef>
              <a:spcAft>
                <a:spcPts val="0"/>
              </a:spcAft>
              <a:buClr>
                <a:srgbClr val="000000"/>
              </a:buClr>
              <a:buSzTx/>
              <a:buFont typeface="Arial" panose="020B0604020202020204" pitchFamily="34" charset="0"/>
              <a:buChar char="•"/>
              <a:tabLst/>
              <a:defRPr/>
            </a:pPr>
            <a:r>
              <a:rPr kumimoji="0" lang="en-US" sz="2400" b="0" i="0" u="none" strike="noStrike" kern="0" cap="none" spc="-1" normalizeH="0" baseline="0" noProof="0" dirty="0">
                <a:ln>
                  <a:noFill/>
                </a:ln>
                <a:solidFill>
                  <a:srgbClr val="000000"/>
                </a:solidFill>
                <a:effectLst/>
                <a:uLnTx/>
                <a:uFillTx/>
                <a:latin typeface="Times New Roman" panose="02020603050405020304"/>
              </a:rPr>
              <a:t>Therefore, this project proposes a multimodal ML system that accurately identifies stress and offers useful coping recommendations.</a:t>
            </a:r>
          </a:p>
        </p:txBody>
      </p:sp>
    </p:spTree>
    <p:extLst>
      <p:ext uri="{BB962C8B-B14F-4D97-AF65-F5344CB8AC3E}">
        <p14:creationId xmlns:p14="http://schemas.microsoft.com/office/powerpoint/2010/main" val="1444609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825DD-3148-4A09-B748-D67D76B9651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2A18FE1-07E9-C80C-2298-AE7881E6A5E4}"/>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9B0AEEAC-71E2-E581-F4F9-CA74255D09FB}"/>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B13</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895BA0D-9DB4-A2AD-878F-8732C23F7EC8}"/>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DDEA7E27-BB51-A220-567C-74A054E80159}"/>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2771AF91-E96E-248F-207D-66225AF27749}"/>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06</a:t>
            </a:r>
          </a:p>
        </p:txBody>
      </p:sp>
      <p:sp>
        <p:nvSpPr>
          <p:cNvPr id="16" name="TextBox 15">
            <a:extLst>
              <a:ext uri="{FF2B5EF4-FFF2-40B4-BE49-F238E27FC236}">
                <a16:creationId xmlns:a16="http://schemas.microsoft.com/office/drawing/2014/main" id="{42388D84-5E73-78A3-B3D1-776A62EB2F6C}"/>
              </a:ext>
            </a:extLst>
          </p:cNvPr>
          <p:cNvSpPr txBox="1"/>
          <p:nvPr/>
        </p:nvSpPr>
        <p:spPr>
          <a:xfrm>
            <a:off x="304800" y="409825"/>
            <a:ext cx="7315200" cy="769441"/>
          </a:xfrm>
          <a:prstGeom prst="rect">
            <a:avLst/>
          </a:prstGeom>
          <a:noFill/>
        </p:spPr>
        <p:txBody>
          <a:bodyPr wrap="square" rtlCol="0">
            <a:spAutoFit/>
          </a:bodyPr>
          <a:lstStyle/>
          <a:p>
            <a:r>
              <a:rPr kumimoji="0" lang="en-IN" sz="4400" b="0" i="0" u="none" strike="noStrike" kern="0" cap="none" spc="0" normalizeH="0" baseline="0" noProof="0" dirty="0">
                <a:ln>
                  <a:noFill/>
                </a:ln>
                <a:solidFill>
                  <a:prstClr val="white"/>
                </a:solidFill>
                <a:effectLst/>
                <a:uLnTx/>
                <a:uFillTx/>
                <a:latin typeface="Times New Roman"/>
                <a:cs typeface="Times New Roman"/>
              </a:rPr>
              <a:t>Objectives</a:t>
            </a:r>
            <a:r>
              <a:rPr kumimoji="0" lang="en-IN" sz="4400" b="0" i="0" u="none" strike="noStrike" kern="0" cap="none" spc="-60" normalizeH="0" baseline="0" noProof="0" dirty="0">
                <a:ln>
                  <a:noFill/>
                </a:ln>
                <a:solidFill>
                  <a:prstClr val="white"/>
                </a:solidFill>
                <a:effectLst/>
                <a:uLnTx/>
                <a:uFillTx/>
                <a:latin typeface="Times New Roman"/>
                <a:cs typeface="Times New Roman"/>
              </a:rPr>
              <a:t> </a:t>
            </a:r>
            <a:r>
              <a:rPr kumimoji="0" lang="en-IN" sz="4400" b="0" i="0" u="none" strike="noStrike" kern="0" cap="none" spc="-25" normalizeH="0" baseline="0" noProof="0" dirty="0">
                <a:ln>
                  <a:noFill/>
                </a:ln>
                <a:solidFill>
                  <a:prstClr val="white"/>
                </a:solidFill>
                <a:effectLst/>
                <a:uLnTx/>
                <a:uFillTx/>
                <a:latin typeface="Times New Roman"/>
                <a:cs typeface="Times New Roman"/>
              </a:rPr>
              <a:t>of</a:t>
            </a:r>
            <a:r>
              <a:rPr lang="en-IN" sz="4400" kern="0" dirty="0">
                <a:solidFill>
                  <a:prstClr val="white"/>
                </a:solidFill>
                <a:latin typeface="Times New Roman"/>
                <a:cs typeface="Times New Roman"/>
              </a:rPr>
              <a:t> </a:t>
            </a:r>
            <a:r>
              <a:rPr kumimoji="0" lang="en-IN" sz="4400" b="0" i="0" u="none" strike="noStrike" kern="0" cap="none" spc="-10" normalizeH="0" baseline="0" noProof="0" dirty="0">
                <a:ln>
                  <a:noFill/>
                </a:ln>
                <a:solidFill>
                  <a:prstClr val="white"/>
                </a:solidFill>
                <a:effectLst/>
                <a:uLnTx/>
                <a:uFillTx/>
                <a:latin typeface="Times New Roman"/>
                <a:cs typeface="Times New Roman"/>
              </a:rPr>
              <a:t>Project</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4F44853E-A66A-9639-ABFA-13128D724BB0}"/>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Smart stress detection and relief system using voice and image processing</a:t>
            </a:r>
            <a:endParaRPr lang="en-IN" dirty="0"/>
          </a:p>
        </p:txBody>
      </p:sp>
      <p:sp>
        <p:nvSpPr>
          <p:cNvPr id="21" name="TextBox 20">
            <a:extLst>
              <a:ext uri="{FF2B5EF4-FFF2-40B4-BE49-F238E27FC236}">
                <a16:creationId xmlns:a16="http://schemas.microsoft.com/office/drawing/2014/main" id="{2067B121-B8E9-6046-1B67-FD6A46EC8E79}"/>
              </a:ext>
            </a:extLst>
          </p:cNvPr>
          <p:cNvSpPr txBox="1"/>
          <p:nvPr/>
        </p:nvSpPr>
        <p:spPr>
          <a:xfrm>
            <a:off x="304800" y="1327958"/>
            <a:ext cx="11454378" cy="2932085"/>
          </a:xfrm>
          <a:prstGeom prst="rect">
            <a:avLst/>
          </a:prstGeom>
          <a:noFill/>
        </p:spPr>
        <p:txBody>
          <a:bodyPr wrap="square" rtlCol="0">
            <a:spAutoFit/>
          </a:bodyPr>
          <a:lstStyle/>
          <a:p>
            <a:pPr marL="342900" marR="0" lvl="0" indent="-342900" algn="just" defTabSz="914400" eaLnBrk="1" fontAlgn="auto" latinLnBrk="0" hangingPunct="1">
              <a:lnSpc>
                <a:spcPct val="90000"/>
              </a:lnSpc>
              <a:spcBef>
                <a:spcPts val="1000"/>
              </a:spcBef>
              <a:spcAft>
                <a:spcPts val="0"/>
              </a:spcAft>
              <a:buClrTx/>
              <a:buSzTx/>
              <a:buFont typeface="Arial" panose="020B0604020202020204" pitchFamily="34" charset="0"/>
              <a:buChar char="•"/>
              <a:tabLst>
                <a:tab pos="0" algn="l"/>
              </a:tabLst>
              <a:defRPr/>
            </a:pPr>
            <a:r>
              <a:rPr kumimoji="0" lang="en-US" sz="2400" b="0" i="0" u="none" strike="noStrike" kern="0" cap="none" spc="-1" normalizeH="0" baseline="0" noProof="0" dirty="0">
                <a:ln>
                  <a:noFill/>
                </a:ln>
                <a:solidFill>
                  <a:srgbClr val="000000"/>
                </a:solidFill>
                <a:effectLst/>
                <a:uLnTx/>
                <a:uFillTx/>
                <a:latin typeface="Times New Roman" panose="02020603050405020304"/>
              </a:rPr>
              <a:t>Objective 1: </a:t>
            </a:r>
          </a:p>
          <a:p>
            <a:pPr marR="0" lvl="0" algn="just" defTabSz="914400" eaLnBrk="1" fontAlgn="auto" latinLnBrk="0" hangingPunct="1">
              <a:lnSpc>
                <a:spcPct val="90000"/>
              </a:lnSpc>
              <a:spcBef>
                <a:spcPts val="1000"/>
              </a:spcBef>
              <a:spcAft>
                <a:spcPts val="0"/>
              </a:spcAft>
              <a:buClrTx/>
              <a:buSzTx/>
              <a:tabLst>
                <a:tab pos="0" algn="l"/>
              </a:tabLst>
              <a:defRPr/>
            </a:pPr>
            <a:r>
              <a:rPr kumimoji="0" lang="en-US" sz="2400" b="0" i="0" u="none" strike="noStrike" kern="0" cap="none" spc="-1" normalizeH="0" baseline="0" noProof="0" dirty="0">
                <a:ln>
                  <a:noFill/>
                </a:ln>
                <a:solidFill>
                  <a:srgbClr val="000000"/>
                </a:solidFill>
                <a:effectLst/>
                <a:uLnTx/>
                <a:uFillTx/>
                <a:latin typeface="Times New Roman" panose="02020603050405020304"/>
              </a:rPr>
              <a:t>To develop an automated system that detects human stress levels by analyzing voice patterns and facial expressions using machine learning techniques.</a:t>
            </a:r>
          </a:p>
          <a:p>
            <a:pPr marL="342900" marR="0" lvl="0" indent="-342900" algn="just" defTabSz="914400" eaLnBrk="1" fontAlgn="auto" latinLnBrk="0" hangingPunct="1">
              <a:lnSpc>
                <a:spcPct val="90000"/>
              </a:lnSpc>
              <a:spcBef>
                <a:spcPts val="1000"/>
              </a:spcBef>
              <a:spcAft>
                <a:spcPts val="0"/>
              </a:spcAft>
              <a:buClrTx/>
              <a:buSzTx/>
              <a:buFont typeface="Arial" panose="020B0604020202020204" pitchFamily="34" charset="0"/>
              <a:buChar char="•"/>
              <a:tabLst>
                <a:tab pos="0" algn="l"/>
              </a:tabLst>
              <a:defRPr/>
            </a:pPr>
            <a:endParaRPr kumimoji="0" lang="en-US" sz="2400" b="0" i="0" u="none" strike="noStrike" kern="0" cap="none" spc="-1" normalizeH="0" baseline="0" noProof="0" dirty="0">
              <a:ln>
                <a:noFill/>
              </a:ln>
              <a:solidFill>
                <a:srgbClr val="000000"/>
              </a:solidFill>
              <a:effectLst/>
              <a:uLnTx/>
              <a:uFillTx/>
              <a:latin typeface="Times New Roman" panose="02020603050405020304"/>
            </a:endParaRPr>
          </a:p>
          <a:p>
            <a:pPr marL="342900" marR="0" lvl="0" indent="-342900" algn="just" defTabSz="914400" eaLnBrk="1" fontAlgn="auto" latinLnBrk="0" hangingPunct="1">
              <a:lnSpc>
                <a:spcPct val="90000"/>
              </a:lnSpc>
              <a:spcBef>
                <a:spcPts val="1000"/>
              </a:spcBef>
              <a:spcAft>
                <a:spcPts val="0"/>
              </a:spcAft>
              <a:buClrTx/>
              <a:buSzTx/>
              <a:buFont typeface="Arial" panose="020B0604020202020204" pitchFamily="34" charset="0"/>
              <a:buChar char="•"/>
              <a:tabLst>
                <a:tab pos="0" algn="l"/>
              </a:tabLst>
              <a:defRPr/>
            </a:pPr>
            <a:r>
              <a:rPr kumimoji="0" lang="en-US" sz="2400" b="0" i="0" u="none" strike="noStrike" kern="0" cap="none" spc="-1" normalizeH="0" baseline="0" noProof="0" dirty="0">
                <a:ln>
                  <a:noFill/>
                </a:ln>
                <a:solidFill>
                  <a:srgbClr val="000000"/>
                </a:solidFill>
                <a:effectLst/>
                <a:uLnTx/>
                <a:uFillTx/>
                <a:latin typeface="Times New Roman" panose="02020603050405020304"/>
              </a:rPr>
              <a:t>Objective 2:</a:t>
            </a:r>
          </a:p>
          <a:p>
            <a:pPr marR="0" lvl="0" algn="just" defTabSz="914400" eaLnBrk="1" fontAlgn="auto" latinLnBrk="0" hangingPunct="1">
              <a:lnSpc>
                <a:spcPct val="90000"/>
              </a:lnSpc>
              <a:spcBef>
                <a:spcPts val="1000"/>
              </a:spcBef>
              <a:spcAft>
                <a:spcPts val="0"/>
              </a:spcAft>
              <a:buClrTx/>
              <a:buSzTx/>
              <a:tabLst>
                <a:tab pos="0" algn="l"/>
              </a:tabLst>
              <a:defRPr/>
            </a:pPr>
            <a:r>
              <a:rPr kumimoji="0" lang="en-US" sz="2400" b="0" i="0" u="none" strike="noStrike" kern="0" cap="none" spc="-1" normalizeH="0" baseline="0" noProof="0" dirty="0">
                <a:ln>
                  <a:noFill/>
                </a:ln>
                <a:solidFill>
                  <a:srgbClr val="000000"/>
                </a:solidFill>
                <a:effectLst/>
                <a:uLnTx/>
                <a:uFillTx/>
                <a:latin typeface="Times New Roman" panose="02020603050405020304"/>
              </a:rPr>
              <a:t>To design and evaluate a personalized stress-reduction module that recommends relaxation techniques based on the detected stress level.</a:t>
            </a:r>
          </a:p>
        </p:txBody>
      </p:sp>
    </p:spTree>
    <p:extLst>
      <p:ext uri="{BB962C8B-B14F-4D97-AF65-F5344CB8AC3E}">
        <p14:creationId xmlns:p14="http://schemas.microsoft.com/office/powerpoint/2010/main" val="4038117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1678B-DFC8-191D-FCB2-6D5941A0BC6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8323A26-60C2-89F8-78B8-D18526A9336B}"/>
              </a:ext>
            </a:extLst>
          </p:cNvPr>
          <p:cNvSpPr/>
          <p:nvPr/>
        </p:nvSpPr>
        <p:spPr>
          <a:xfrm>
            <a:off x="0" y="228600"/>
            <a:ext cx="12192000" cy="760578"/>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1C645C9-3233-F395-5685-F373B8FAADBD}"/>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B13</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E22B351-9274-85EB-7C39-4A48CADD87BD}"/>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8E707D3F-41EC-AF1E-79AE-F4CCA105D54D}"/>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59C4461-D407-8AA3-1BE4-A036EEB7AF1C}"/>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07</a:t>
            </a:r>
          </a:p>
        </p:txBody>
      </p:sp>
      <p:sp>
        <p:nvSpPr>
          <p:cNvPr id="16" name="TextBox 15">
            <a:extLst>
              <a:ext uri="{FF2B5EF4-FFF2-40B4-BE49-F238E27FC236}">
                <a16:creationId xmlns:a16="http://schemas.microsoft.com/office/drawing/2014/main" id="{9F68BBDC-ADE6-791E-BC90-C581E3E07D5F}"/>
              </a:ext>
            </a:extLst>
          </p:cNvPr>
          <p:cNvSpPr txBox="1"/>
          <p:nvPr/>
        </p:nvSpPr>
        <p:spPr>
          <a:xfrm>
            <a:off x="270076" y="199542"/>
            <a:ext cx="7315200" cy="769441"/>
          </a:xfrm>
          <a:prstGeom prst="rect">
            <a:avLst/>
          </a:prstGeom>
          <a:noFill/>
        </p:spPr>
        <p:txBody>
          <a:bodyPr wrap="square" rtlCol="0">
            <a:spAutoFit/>
          </a:bodyPr>
          <a:lstStyle/>
          <a:p>
            <a:pPr marL="12700">
              <a:lnSpc>
                <a:spcPct val="100000"/>
              </a:lnSpc>
              <a:spcBef>
                <a:spcPts val="100"/>
              </a:spcBef>
            </a:pPr>
            <a:r>
              <a:rPr lang="en-IN" sz="4400" dirty="0">
                <a:solidFill>
                  <a:srgbClr val="FFFFFF"/>
                </a:solidFill>
                <a:latin typeface="Times New Roman"/>
                <a:cs typeface="Times New Roman"/>
              </a:rPr>
              <a:t>Literature</a:t>
            </a:r>
            <a:r>
              <a:rPr lang="en-IN" sz="4400" spc="-100" dirty="0">
                <a:solidFill>
                  <a:srgbClr val="FFFFFF"/>
                </a:solidFill>
                <a:latin typeface="Times New Roman"/>
                <a:cs typeface="Times New Roman"/>
              </a:rPr>
              <a:t> </a:t>
            </a:r>
            <a:r>
              <a:rPr lang="en-IN" sz="4400" spc="-10" dirty="0">
                <a:solidFill>
                  <a:srgbClr val="FFFFFF"/>
                </a:solidFill>
                <a:latin typeface="Times New Roman"/>
                <a:cs typeface="Times New Roman"/>
              </a:rPr>
              <a:t>Survey</a:t>
            </a:r>
            <a:endParaRPr lang="en-IN" sz="4400" dirty="0">
              <a:latin typeface="Times New Roman"/>
              <a:cs typeface="Times New Roman"/>
            </a:endParaRPr>
          </a:p>
        </p:txBody>
      </p:sp>
      <p:sp>
        <p:nvSpPr>
          <p:cNvPr id="20" name="TextBox 19">
            <a:extLst>
              <a:ext uri="{FF2B5EF4-FFF2-40B4-BE49-F238E27FC236}">
                <a16:creationId xmlns:a16="http://schemas.microsoft.com/office/drawing/2014/main" id="{D51E9120-952F-8BE9-2182-E1D6B735A410}"/>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Smart stress detection and relief system using voice and image processing</a:t>
            </a:r>
            <a:endParaRPr lang="en-IN" dirty="0"/>
          </a:p>
        </p:txBody>
      </p:sp>
      <p:graphicFrame>
        <p:nvGraphicFramePr>
          <p:cNvPr id="6" name="Table 5">
            <a:extLst>
              <a:ext uri="{FF2B5EF4-FFF2-40B4-BE49-F238E27FC236}">
                <a16:creationId xmlns:a16="http://schemas.microsoft.com/office/drawing/2014/main" id="{633839D1-3223-A6B3-E4E0-EA7B9234247A}"/>
              </a:ext>
            </a:extLst>
          </p:cNvPr>
          <p:cNvGraphicFramePr>
            <a:graphicFrameLocks noGrp="1"/>
          </p:cNvGraphicFramePr>
          <p:nvPr>
            <p:extLst>
              <p:ext uri="{D42A27DB-BD31-4B8C-83A1-F6EECF244321}">
                <p14:modId xmlns:p14="http://schemas.microsoft.com/office/powerpoint/2010/main" val="2032201956"/>
              </p:ext>
            </p:extLst>
          </p:nvPr>
        </p:nvGraphicFramePr>
        <p:xfrm>
          <a:off x="351774" y="989178"/>
          <a:ext cx="11336048" cy="5669280"/>
        </p:xfrm>
        <a:graphic>
          <a:graphicData uri="http://schemas.openxmlformats.org/drawingml/2006/table">
            <a:tbl>
              <a:tblPr firstRow="1" bandRow="1">
                <a:tableStyleId>{5C22544A-7EE6-4342-B048-85BDC9FD1C3A}</a:tableStyleId>
              </a:tblPr>
              <a:tblGrid>
                <a:gridCol w="578492">
                  <a:extLst>
                    <a:ext uri="{9D8B030D-6E8A-4147-A177-3AD203B41FA5}">
                      <a16:colId xmlns:a16="http://schemas.microsoft.com/office/drawing/2014/main" val="400089697"/>
                    </a:ext>
                  </a:extLst>
                </a:gridCol>
                <a:gridCol w="1952408">
                  <a:extLst>
                    <a:ext uri="{9D8B030D-6E8A-4147-A177-3AD203B41FA5}">
                      <a16:colId xmlns:a16="http://schemas.microsoft.com/office/drawing/2014/main" val="1766768736"/>
                    </a:ext>
                  </a:extLst>
                </a:gridCol>
                <a:gridCol w="1735475">
                  <a:extLst>
                    <a:ext uri="{9D8B030D-6E8A-4147-A177-3AD203B41FA5}">
                      <a16:colId xmlns:a16="http://schemas.microsoft.com/office/drawing/2014/main" val="54133824"/>
                    </a:ext>
                  </a:extLst>
                </a:gridCol>
                <a:gridCol w="2024720">
                  <a:extLst>
                    <a:ext uri="{9D8B030D-6E8A-4147-A177-3AD203B41FA5}">
                      <a16:colId xmlns:a16="http://schemas.microsoft.com/office/drawing/2014/main" val="1045738277"/>
                    </a:ext>
                  </a:extLst>
                </a:gridCol>
                <a:gridCol w="1806081">
                  <a:extLst>
                    <a:ext uri="{9D8B030D-6E8A-4147-A177-3AD203B41FA5}">
                      <a16:colId xmlns:a16="http://schemas.microsoft.com/office/drawing/2014/main" val="3735787330"/>
                    </a:ext>
                  </a:extLst>
                </a:gridCol>
                <a:gridCol w="1619436">
                  <a:extLst>
                    <a:ext uri="{9D8B030D-6E8A-4147-A177-3AD203B41FA5}">
                      <a16:colId xmlns:a16="http://schemas.microsoft.com/office/drawing/2014/main" val="2526691583"/>
                    </a:ext>
                  </a:extLst>
                </a:gridCol>
                <a:gridCol w="1619436">
                  <a:extLst>
                    <a:ext uri="{9D8B030D-6E8A-4147-A177-3AD203B41FA5}">
                      <a16:colId xmlns:a16="http://schemas.microsoft.com/office/drawing/2014/main" val="692126424"/>
                    </a:ext>
                  </a:extLst>
                </a:gridCol>
              </a:tblGrid>
              <a:tr h="629970">
                <a:tc>
                  <a:txBody>
                    <a:bodyPr/>
                    <a:lstStyle/>
                    <a:p>
                      <a:r>
                        <a:rPr lang="en-US" dirty="0"/>
                        <a:t>No</a:t>
                      </a:r>
                      <a:endParaRPr lang="en-IN" dirty="0"/>
                    </a:p>
                  </a:txBody>
                  <a:tcPr/>
                </a:tc>
                <a:tc>
                  <a:txBody>
                    <a:bodyPr/>
                    <a:lstStyle/>
                    <a:p>
                      <a:r>
                        <a:rPr lang="en-IN" dirty="0"/>
                        <a:t>Title</a:t>
                      </a:r>
                    </a:p>
                  </a:txBody>
                  <a:tcPr/>
                </a:tc>
                <a:tc>
                  <a:txBody>
                    <a:bodyPr/>
                    <a:lstStyle/>
                    <a:p>
                      <a:r>
                        <a:rPr lang="en-IN" dirty="0"/>
                        <a:t>Author</a:t>
                      </a:r>
                    </a:p>
                  </a:txBody>
                  <a:tcPr/>
                </a:tc>
                <a:tc>
                  <a:txBody>
                    <a:bodyPr/>
                    <a:lstStyle/>
                    <a:p>
                      <a:r>
                        <a:rPr lang="en-IN" dirty="0"/>
                        <a:t>Journal Name &amp; Year</a:t>
                      </a:r>
                    </a:p>
                  </a:txBody>
                  <a:tcPr/>
                </a:tc>
                <a:tc>
                  <a:txBody>
                    <a:bodyPr/>
                    <a:lstStyle/>
                    <a:p>
                      <a:r>
                        <a:rPr lang="en-IN" dirty="0"/>
                        <a:t>Methodology / Approach Used</a:t>
                      </a:r>
                    </a:p>
                  </a:txBody>
                  <a:tcPr/>
                </a:tc>
                <a:tc>
                  <a:txBody>
                    <a:bodyPr/>
                    <a:lstStyle/>
                    <a:p>
                      <a:r>
                        <a:rPr lang="en-IN" dirty="0"/>
                        <a:t>Key Findings</a:t>
                      </a:r>
                    </a:p>
                  </a:txBody>
                  <a:tcPr/>
                </a:tc>
                <a:tc>
                  <a:txBody>
                    <a:bodyPr/>
                    <a:lstStyle/>
                    <a:p>
                      <a:r>
                        <a:rPr lang="en-IN" dirty="0"/>
                        <a:t>Gaps Identified</a:t>
                      </a:r>
                    </a:p>
                  </a:txBody>
                  <a:tcPr/>
                </a:tc>
                <a:extLst>
                  <a:ext uri="{0D108BD9-81ED-4DB2-BD59-A6C34878D82A}">
                    <a16:rowId xmlns:a16="http://schemas.microsoft.com/office/drawing/2014/main" val="2100539375"/>
                  </a:ext>
                </a:extLst>
              </a:tr>
              <a:tr h="1169945">
                <a:tc>
                  <a:txBody>
                    <a:bodyPr/>
                    <a:lstStyle/>
                    <a:p>
                      <a:r>
                        <a:rPr lang="en-US" dirty="0"/>
                        <a:t>1</a:t>
                      </a:r>
                      <a:endParaRPr lang="en-IN" dirty="0"/>
                    </a:p>
                  </a:txBody>
                  <a:tcPr/>
                </a:tc>
                <a:tc>
                  <a:txBody>
                    <a:bodyPr/>
                    <a:lstStyle/>
                    <a:p>
                      <a:pPr>
                        <a:buNone/>
                      </a:pPr>
                      <a:r>
                        <a:rPr lang="en-US" i="1" dirty="0"/>
                        <a:t>Audio Signal Based Stress Recognition System using AI and ML</a:t>
                      </a:r>
                      <a:endParaRPr lang="en-US" dirty="0"/>
                    </a:p>
                  </a:txBody>
                  <a:tcPr anchor="ctr"/>
                </a:tc>
                <a:tc>
                  <a:txBody>
                    <a:bodyPr/>
                    <a:lstStyle/>
                    <a:p>
                      <a:pPr>
                        <a:buNone/>
                      </a:pPr>
                      <a:r>
                        <a:rPr lang="en-US" dirty="0"/>
                        <a:t>Megha Gupta &amp; Shubhangi Vaikole.</a:t>
                      </a:r>
                    </a:p>
                  </a:txBody>
                  <a:tcPr anchor="ctr"/>
                </a:tc>
                <a:tc>
                  <a:txBody>
                    <a:bodyPr/>
                    <a:lstStyle/>
                    <a:p>
                      <a:pPr>
                        <a:buNone/>
                      </a:pPr>
                      <a:r>
                        <a:rPr lang="en-US" i="1" dirty="0"/>
                        <a:t>Journal of Algebraic Statistics</a:t>
                      </a:r>
                      <a:r>
                        <a:rPr lang="en-US" dirty="0"/>
                        <a:t>, 2022</a:t>
                      </a:r>
                    </a:p>
                  </a:txBody>
                  <a:tcPr anchor="ctr"/>
                </a:tc>
                <a:tc>
                  <a:txBody>
                    <a:bodyPr/>
                    <a:lstStyle/>
                    <a:p>
                      <a:pPr>
                        <a:buNone/>
                      </a:pPr>
                      <a:r>
                        <a:rPr lang="en-US" dirty="0"/>
                        <a:t>RNN, LSTM</a:t>
                      </a:r>
                    </a:p>
                  </a:txBody>
                  <a:tcPr anchor="ctr"/>
                </a:tc>
                <a:tc>
                  <a:txBody>
                    <a:bodyPr/>
                    <a:lstStyle/>
                    <a:p>
                      <a:pPr>
                        <a:buNone/>
                      </a:pPr>
                      <a:r>
                        <a:rPr lang="en-US" dirty="0"/>
                        <a:t>Accurate speech-based stress detection</a:t>
                      </a:r>
                    </a:p>
                  </a:txBody>
                  <a:tcPr anchor="ctr"/>
                </a:tc>
                <a:tc>
                  <a:txBody>
                    <a:bodyPr/>
                    <a:lstStyle/>
                    <a:p>
                      <a:pPr>
                        <a:buNone/>
                      </a:pPr>
                      <a:r>
                        <a:rPr lang="en-US" dirty="0"/>
                        <a:t>Audio-only, no multimodal fusion</a:t>
                      </a:r>
                    </a:p>
                  </a:txBody>
                  <a:tcPr anchor="ctr"/>
                </a:tc>
                <a:extLst>
                  <a:ext uri="{0D108BD9-81ED-4DB2-BD59-A6C34878D82A}">
                    <a16:rowId xmlns:a16="http://schemas.microsoft.com/office/drawing/2014/main" val="3409519978"/>
                  </a:ext>
                </a:extLst>
              </a:tr>
              <a:tr h="1169945">
                <a:tc>
                  <a:txBody>
                    <a:bodyPr/>
                    <a:lstStyle/>
                    <a:p>
                      <a:r>
                        <a:rPr lang="en-US" dirty="0"/>
                        <a:t>2</a:t>
                      </a:r>
                      <a:endParaRPr lang="en-IN" dirty="0"/>
                    </a:p>
                  </a:txBody>
                  <a:tcPr/>
                </a:tc>
                <a:tc>
                  <a:txBody>
                    <a:bodyPr/>
                    <a:lstStyle/>
                    <a:p>
                      <a:pPr>
                        <a:buNone/>
                      </a:pPr>
                      <a:r>
                        <a:rPr lang="en-US" dirty="0"/>
                        <a:t>Stress Detection in IT Professionals Using Image Processing &amp; ML</a:t>
                      </a:r>
                    </a:p>
                  </a:txBody>
                  <a:tcPr anchor="ctr"/>
                </a:tc>
                <a:tc>
                  <a:txBody>
                    <a:bodyPr/>
                    <a:lstStyle/>
                    <a:p>
                      <a:pPr>
                        <a:buNone/>
                      </a:pPr>
                      <a:r>
                        <a:rPr lang="en-US" dirty="0"/>
                        <a:t>Abdul Rahim et al.</a:t>
                      </a:r>
                    </a:p>
                  </a:txBody>
                  <a:tcPr anchor="ctr"/>
                </a:tc>
                <a:tc>
                  <a:txBody>
                    <a:bodyPr/>
                    <a:lstStyle/>
                    <a:p>
                      <a:pPr>
                        <a:buNone/>
                      </a:pPr>
                      <a:r>
                        <a:rPr lang="en-US" i="1" dirty="0"/>
                        <a:t>IJMM</a:t>
                      </a:r>
                      <a:r>
                        <a:rPr lang="en-US" dirty="0"/>
                        <a:t>, 2023</a:t>
                      </a:r>
                    </a:p>
                  </a:txBody>
                  <a:tcPr anchor="ctr"/>
                </a:tc>
                <a:tc>
                  <a:txBody>
                    <a:bodyPr/>
                    <a:lstStyle/>
                    <a:p>
                      <a:pPr>
                        <a:buNone/>
                      </a:pPr>
                      <a:r>
                        <a:rPr lang="en-US" dirty="0"/>
                        <a:t>Facial image processing + ML</a:t>
                      </a:r>
                    </a:p>
                  </a:txBody>
                  <a:tcPr anchor="ctr"/>
                </a:tc>
                <a:tc>
                  <a:txBody>
                    <a:bodyPr/>
                    <a:lstStyle/>
                    <a:p>
                      <a:pPr>
                        <a:buNone/>
                      </a:pPr>
                      <a:r>
                        <a:rPr lang="en-US" dirty="0"/>
                        <a:t>Effective live detection</a:t>
                      </a:r>
                    </a:p>
                  </a:txBody>
                  <a:tcPr anchor="ctr"/>
                </a:tc>
                <a:tc>
                  <a:txBody>
                    <a:bodyPr/>
                    <a:lstStyle/>
                    <a:p>
                      <a:pPr>
                        <a:buNone/>
                      </a:pPr>
                      <a:r>
                        <a:rPr lang="en-US" dirty="0"/>
                        <a:t>Image-only, no voice analysis</a:t>
                      </a:r>
                    </a:p>
                  </a:txBody>
                  <a:tcPr anchor="ctr"/>
                </a:tc>
                <a:extLst>
                  <a:ext uri="{0D108BD9-81ED-4DB2-BD59-A6C34878D82A}">
                    <a16:rowId xmlns:a16="http://schemas.microsoft.com/office/drawing/2014/main" val="750736562"/>
                  </a:ext>
                </a:extLst>
              </a:tr>
              <a:tr h="1169945">
                <a:tc>
                  <a:txBody>
                    <a:bodyPr/>
                    <a:lstStyle/>
                    <a:p>
                      <a:r>
                        <a:rPr lang="en-US" dirty="0"/>
                        <a:t>3</a:t>
                      </a:r>
                      <a:endParaRPr lang="en-IN" dirty="0"/>
                    </a:p>
                  </a:txBody>
                  <a:tcPr/>
                </a:tc>
                <a:tc>
                  <a:txBody>
                    <a:bodyPr/>
                    <a:lstStyle/>
                    <a:p>
                      <a:pPr>
                        <a:buNone/>
                      </a:pPr>
                      <a:r>
                        <a:rPr lang="en-US" dirty="0"/>
                        <a:t>Real-Time Image Sequences-Based Stress Assessment Vision System</a:t>
                      </a:r>
                    </a:p>
                  </a:txBody>
                  <a:tcPr anchor="ctr"/>
                </a:tc>
                <a:tc>
                  <a:txBody>
                    <a:bodyPr/>
                    <a:lstStyle/>
                    <a:p>
                      <a:pPr>
                        <a:buNone/>
                      </a:pPr>
                      <a:r>
                        <a:rPr lang="en-US" dirty="0"/>
                        <a:t>Khomidov et al.</a:t>
                      </a:r>
                    </a:p>
                  </a:txBody>
                  <a:tcPr anchor="ctr"/>
                </a:tc>
                <a:tc>
                  <a:txBody>
                    <a:bodyPr/>
                    <a:lstStyle/>
                    <a:p>
                      <a:pPr>
                        <a:buNone/>
                      </a:pPr>
                      <a:r>
                        <a:rPr lang="en-US" i="1" dirty="0"/>
                        <a:t>Electronics</a:t>
                      </a:r>
                      <a:r>
                        <a:rPr lang="en-US" dirty="0"/>
                        <a:t>, 2024</a:t>
                      </a:r>
                    </a:p>
                  </a:txBody>
                  <a:tcPr anchor="ctr"/>
                </a:tc>
                <a:tc>
                  <a:txBody>
                    <a:bodyPr/>
                    <a:lstStyle/>
                    <a:p>
                      <a:pPr>
                        <a:buNone/>
                      </a:pPr>
                      <a:r>
                        <a:rPr lang="en-US" dirty="0"/>
                        <a:t>rPPG-based HR/HRV + ML models</a:t>
                      </a:r>
                    </a:p>
                  </a:txBody>
                  <a:tcPr anchor="ctr"/>
                </a:tc>
                <a:tc>
                  <a:txBody>
                    <a:bodyPr/>
                    <a:lstStyle/>
                    <a:p>
                      <a:pPr>
                        <a:buNone/>
                      </a:pPr>
                      <a:r>
                        <a:rPr lang="en-US" dirty="0"/>
                        <a:t>High accuracy (up to 99%) in stress detection</a:t>
                      </a:r>
                    </a:p>
                  </a:txBody>
                  <a:tcPr anchor="ctr"/>
                </a:tc>
                <a:tc>
                  <a:txBody>
                    <a:bodyPr/>
                    <a:lstStyle/>
                    <a:p>
                      <a:pPr>
                        <a:buNone/>
                      </a:pPr>
                      <a:r>
                        <a:rPr lang="en-US" dirty="0"/>
                        <a:t>Uses only physiological signals</a:t>
                      </a:r>
                    </a:p>
                  </a:txBody>
                  <a:tcPr anchor="ctr"/>
                </a:tc>
                <a:extLst>
                  <a:ext uri="{0D108BD9-81ED-4DB2-BD59-A6C34878D82A}">
                    <a16:rowId xmlns:a16="http://schemas.microsoft.com/office/drawing/2014/main" val="3011541535"/>
                  </a:ext>
                </a:extLst>
              </a:tr>
              <a:tr h="1439932">
                <a:tc>
                  <a:txBody>
                    <a:bodyPr/>
                    <a:lstStyle/>
                    <a:p>
                      <a:r>
                        <a:rPr lang="en-US" dirty="0"/>
                        <a:t>4</a:t>
                      </a:r>
                      <a:endParaRPr lang="en-IN" dirty="0"/>
                    </a:p>
                  </a:txBody>
                  <a:tcPr/>
                </a:tc>
                <a:tc>
                  <a:txBody>
                    <a:bodyPr/>
                    <a:lstStyle/>
                    <a:p>
                      <a:r>
                        <a:rPr lang="en-US" dirty="0"/>
                        <a:t>Multimodal Stress Detection Using Facial Landmarks and Biometric Signals</a:t>
                      </a:r>
                      <a:endParaRPr lang="en-IN" dirty="0"/>
                    </a:p>
                  </a:txBody>
                  <a:tcPr/>
                </a:tc>
                <a:tc>
                  <a:txBody>
                    <a:bodyPr/>
                    <a:lstStyle/>
                    <a:p>
                      <a:pPr>
                        <a:buNone/>
                      </a:pPr>
                      <a:r>
                        <a:rPr lang="en-US" dirty="0"/>
                        <a:t>Majid Hosseini et al.</a:t>
                      </a:r>
                    </a:p>
                  </a:txBody>
                  <a:tcPr anchor="ctr"/>
                </a:tc>
                <a:tc>
                  <a:txBody>
                    <a:bodyPr/>
                    <a:lstStyle/>
                    <a:p>
                      <a:pPr>
                        <a:buNone/>
                      </a:pPr>
                      <a:r>
                        <a:rPr lang="en-US" dirty="0"/>
                        <a:t>arXiv, 2023</a:t>
                      </a:r>
                    </a:p>
                  </a:txBody>
                  <a:tcPr anchor="ctr"/>
                </a:tc>
                <a:tc>
                  <a:txBody>
                    <a:bodyPr/>
                    <a:lstStyle/>
                    <a:p>
                      <a:pPr>
                        <a:buNone/>
                      </a:pPr>
                      <a:r>
                        <a:rPr lang="en-US" dirty="0"/>
                        <a:t>Facial landmarks, biometric signals</a:t>
                      </a:r>
                    </a:p>
                  </a:txBody>
                  <a:tcPr anchor="ctr"/>
                </a:tc>
                <a:tc>
                  <a:txBody>
                    <a:bodyPr/>
                    <a:lstStyle/>
                    <a:p>
                      <a:pPr>
                        <a:buNone/>
                      </a:pPr>
                      <a:r>
                        <a:rPr lang="en-US" dirty="0"/>
                        <a:t>Uses multimodal signals, high accuracy</a:t>
                      </a:r>
                    </a:p>
                  </a:txBody>
                  <a:tcPr anchor="ctr"/>
                </a:tc>
                <a:tc>
                  <a:txBody>
                    <a:bodyPr/>
                    <a:lstStyle/>
                    <a:p>
                      <a:endParaRPr lang="en-US" dirty="0"/>
                    </a:p>
                    <a:p>
                      <a:r>
                        <a:rPr lang="en-US" dirty="0"/>
                        <a:t>Limited dataset size and diversity</a:t>
                      </a:r>
                      <a:endParaRPr lang="en-IN" dirty="0"/>
                    </a:p>
                  </a:txBody>
                  <a:tcPr/>
                </a:tc>
                <a:extLst>
                  <a:ext uri="{0D108BD9-81ED-4DB2-BD59-A6C34878D82A}">
                    <a16:rowId xmlns:a16="http://schemas.microsoft.com/office/drawing/2014/main" val="505390217"/>
                  </a:ext>
                </a:extLst>
              </a:tr>
            </a:tbl>
          </a:graphicData>
        </a:graphic>
      </p:graphicFrame>
    </p:spTree>
    <p:extLst>
      <p:ext uri="{BB962C8B-B14F-4D97-AF65-F5344CB8AC3E}">
        <p14:creationId xmlns:p14="http://schemas.microsoft.com/office/powerpoint/2010/main" val="4160059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F7629-6BEF-E7E0-B77A-788A6AEA157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849171A-F8E8-389C-8641-A81CC0139DA0}"/>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2E561DB-06AC-CAD6-9CE0-D87452819C84}"/>
              </a:ext>
            </a:extLst>
          </p:cNvPr>
          <p:cNvSpPr txBox="1"/>
          <p:nvPr/>
        </p:nvSpPr>
        <p:spPr>
          <a:xfrm>
            <a:off x="152400" y="6589714"/>
            <a:ext cx="762000" cy="523220"/>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B13</a:t>
            </a:r>
          </a:p>
          <a:p>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994F818-0C4D-7E8E-2500-C153117E38C9}"/>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D7AE9643-70AF-424D-26D3-F417B7B9B3B3}"/>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AF4F225-D6E0-E3BB-87D6-E15B1B56311C}"/>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08</a:t>
            </a:r>
          </a:p>
        </p:txBody>
      </p:sp>
      <p:sp>
        <p:nvSpPr>
          <p:cNvPr id="16" name="TextBox 15">
            <a:extLst>
              <a:ext uri="{FF2B5EF4-FFF2-40B4-BE49-F238E27FC236}">
                <a16:creationId xmlns:a16="http://schemas.microsoft.com/office/drawing/2014/main" id="{B1A146A3-F544-2032-AFCC-5997DA3ED37E}"/>
              </a:ext>
            </a:extLst>
          </p:cNvPr>
          <p:cNvSpPr txBox="1"/>
          <p:nvPr/>
        </p:nvSpPr>
        <p:spPr>
          <a:xfrm>
            <a:off x="304800" y="409825"/>
            <a:ext cx="7315200" cy="769441"/>
          </a:xfrm>
          <a:prstGeom prst="rect">
            <a:avLst/>
          </a:prstGeom>
          <a:noFill/>
        </p:spPr>
        <p:txBody>
          <a:bodyPr wrap="square" rtlCol="0">
            <a:spAutoFit/>
          </a:bodyPr>
          <a:lstStyle/>
          <a:p>
            <a:r>
              <a:rPr kumimoji="0" lang="en-IN" sz="4400" b="0" i="0" u="none" strike="noStrike" kern="0" cap="none" spc="-10" normalizeH="0" baseline="0" noProof="0" dirty="0">
                <a:ln>
                  <a:noFill/>
                </a:ln>
                <a:solidFill>
                  <a:prstClr val="white"/>
                </a:solidFill>
                <a:effectLst/>
                <a:uLnTx/>
                <a:uFillTx/>
                <a:latin typeface="Times New Roman"/>
                <a:cs typeface="Times New Roman"/>
              </a:rPr>
              <a:t>Proposed</a:t>
            </a:r>
            <a:r>
              <a:rPr lang="en-IN" sz="4400" kern="0" dirty="0">
                <a:solidFill>
                  <a:prstClr val="white"/>
                </a:solidFill>
                <a:latin typeface="Times New Roman"/>
                <a:cs typeface="Times New Roman"/>
              </a:rPr>
              <a:t> </a:t>
            </a:r>
            <a:r>
              <a:rPr kumimoji="0" lang="en-IN" sz="4400" b="0" i="0" u="none" strike="noStrike" kern="0" cap="none" spc="-10" normalizeH="0" baseline="0" noProof="0" dirty="0">
                <a:ln>
                  <a:noFill/>
                </a:ln>
                <a:solidFill>
                  <a:prstClr val="white"/>
                </a:solidFill>
                <a:effectLst/>
                <a:uLnTx/>
                <a:uFillTx/>
                <a:latin typeface="Times New Roman"/>
                <a:cs typeface="Times New Roman"/>
              </a:rPr>
              <a:t>System</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E0E33571-B37A-2348-E198-0D217F27D2FD}"/>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Smart stress detection and relief system using voice and image processing</a:t>
            </a:r>
            <a:endParaRPr lang="en-IN" dirty="0"/>
          </a:p>
        </p:txBody>
      </p:sp>
      <p:sp>
        <p:nvSpPr>
          <p:cNvPr id="21" name="TextBox 20">
            <a:extLst>
              <a:ext uri="{FF2B5EF4-FFF2-40B4-BE49-F238E27FC236}">
                <a16:creationId xmlns:a16="http://schemas.microsoft.com/office/drawing/2014/main" id="{4CFA32F6-60D9-1C23-976C-BAB5530FEC17}"/>
              </a:ext>
            </a:extLst>
          </p:cNvPr>
          <p:cNvSpPr txBox="1"/>
          <p:nvPr/>
        </p:nvSpPr>
        <p:spPr>
          <a:xfrm>
            <a:off x="304800" y="1327958"/>
            <a:ext cx="11454378" cy="2675604"/>
          </a:xfrm>
          <a:prstGeom prst="rect">
            <a:avLst/>
          </a:prstGeom>
          <a:noFill/>
        </p:spPr>
        <p:txBody>
          <a:bodyPr wrap="square" rtlCol="0">
            <a:spAutoFit/>
          </a:bodyPr>
          <a:lstStyle/>
          <a:p>
            <a:pPr marL="342900" marR="0" lvl="0" indent="-342900" algn="just" defTabSz="914400" eaLnBrk="1" fontAlgn="auto" latinLnBrk="0" hangingPunct="1">
              <a:lnSpc>
                <a:spcPct val="90000"/>
              </a:lnSpc>
              <a:spcBef>
                <a:spcPts val="1000"/>
              </a:spcBef>
              <a:spcAft>
                <a:spcPts val="0"/>
              </a:spcAft>
              <a:buClr>
                <a:srgbClr val="000000"/>
              </a:buClr>
              <a:buSzTx/>
              <a:buFont typeface="Arial" panose="020B0604020202020204" pitchFamily="34" charset="0"/>
              <a:buChar char="•"/>
              <a:tabLst/>
              <a:defRPr/>
            </a:pPr>
            <a:endParaRPr kumimoji="0" lang="en-US" sz="2400" b="0" i="0" u="none" strike="noStrike" kern="0" cap="none" spc="-1"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eaLnBrk="1" fontAlgn="auto" latinLnBrk="0" hangingPunct="1">
              <a:lnSpc>
                <a:spcPct val="90000"/>
              </a:lnSpc>
              <a:spcBef>
                <a:spcPts val="1000"/>
              </a:spcBef>
              <a:spcAft>
                <a:spcPts val="0"/>
              </a:spcAft>
              <a:buClr>
                <a:srgbClr val="000000"/>
              </a:buClr>
              <a:buSzTx/>
              <a:buFont typeface="Arial" panose="020B0604020202020204" pitchFamily="34" charset="0"/>
              <a:buChar char="•"/>
              <a:tabLst/>
              <a:defRPr/>
            </a:pPr>
            <a:r>
              <a:rPr kumimoji="0" lang="en-US" sz="2400" b="0" i="0" u="none" strike="noStrike" kern="0" cap="none" spc="-1"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The system captures voice and facial inputs, processes them using LSTM (voice) and CNN (face) models, and classifies stress into low, medium, or high. The multimodal outputs are combined for higher accuracy.</a:t>
            </a:r>
          </a:p>
          <a:p>
            <a:pPr marL="342900" marR="0" lvl="0" indent="-342900" algn="just" defTabSz="914400" eaLnBrk="1" fontAlgn="auto" latinLnBrk="0" hangingPunct="1">
              <a:lnSpc>
                <a:spcPct val="90000"/>
              </a:lnSpc>
              <a:spcBef>
                <a:spcPts val="1000"/>
              </a:spcBef>
              <a:spcAft>
                <a:spcPts val="0"/>
              </a:spcAft>
              <a:buClr>
                <a:srgbClr val="000000"/>
              </a:buClr>
              <a:buSzTx/>
              <a:buFont typeface="Arial" panose="020B0604020202020204" pitchFamily="34" charset="0"/>
              <a:buChar char="•"/>
              <a:tabLst/>
              <a:defRPr/>
            </a:pPr>
            <a:r>
              <a:rPr kumimoji="0" lang="en-US" sz="2400" b="0" i="0" u="none" strike="noStrike" kern="0" cap="none" spc="-1"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Based on the detected stress level, the system provides personalized recommendations to reduce the stress such as breathing exercises, relaxation music, or mindfulness tips through a simple user interface.</a:t>
            </a:r>
          </a:p>
        </p:txBody>
      </p:sp>
    </p:spTree>
    <p:extLst>
      <p:ext uri="{BB962C8B-B14F-4D97-AF65-F5344CB8AC3E}">
        <p14:creationId xmlns:p14="http://schemas.microsoft.com/office/powerpoint/2010/main" val="206397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82134-76FB-D937-C3DA-41EF0CC8D73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D196D1B-DD28-406F-EE3C-1DD5EBB75212}"/>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263585F-661F-3EC8-D083-F342A4FF16E9}"/>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B13</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7D6AEE0-AB18-3FAA-9620-F39FE4DFE54B}"/>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0F6EC49-1F6C-7215-4C4B-05EB33417C67}"/>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9E3638A-F9E4-409C-27B4-56AAA5E73D15}"/>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09</a:t>
            </a:r>
          </a:p>
        </p:txBody>
      </p:sp>
      <p:sp>
        <p:nvSpPr>
          <p:cNvPr id="16" name="TextBox 15">
            <a:extLst>
              <a:ext uri="{FF2B5EF4-FFF2-40B4-BE49-F238E27FC236}">
                <a16:creationId xmlns:a16="http://schemas.microsoft.com/office/drawing/2014/main" id="{18907784-EAE1-E3D4-58F6-7E98F593D9ED}"/>
              </a:ext>
            </a:extLst>
          </p:cNvPr>
          <p:cNvSpPr txBox="1"/>
          <p:nvPr/>
        </p:nvSpPr>
        <p:spPr>
          <a:xfrm>
            <a:off x="304800" y="409825"/>
            <a:ext cx="7315200" cy="769441"/>
          </a:xfrm>
          <a:prstGeom prst="rect">
            <a:avLst/>
          </a:prstGeom>
          <a:noFill/>
        </p:spPr>
        <p:txBody>
          <a:bodyPr wrap="square" rtlCol="0">
            <a:spAutoFit/>
          </a:bodyPr>
          <a:lstStyle/>
          <a:p>
            <a:r>
              <a:rPr kumimoji="0" lang="en-IN" sz="4400" b="0" i="0" u="none" strike="noStrike" kern="0" cap="none" spc="-10" normalizeH="0" baseline="0" noProof="0" dirty="0">
                <a:ln>
                  <a:noFill/>
                </a:ln>
                <a:solidFill>
                  <a:prstClr val="white"/>
                </a:solidFill>
                <a:effectLst/>
                <a:uLnTx/>
                <a:uFillTx/>
                <a:latin typeface="Times New Roman"/>
                <a:cs typeface="Times New Roman"/>
              </a:rPr>
              <a:t>References</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90F815DE-A4A6-A074-8E0D-C6FC55FCF703}"/>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Smart stress detection and relief system using voice and image processing</a:t>
            </a:r>
            <a:endParaRPr lang="en-IN" dirty="0"/>
          </a:p>
        </p:txBody>
      </p:sp>
      <p:sp>
        <p:nvSpPr>
          <p:cNvPr id="21" name="TextBox 20">
            <a:extLst>
              <a:ext uri="{FF2B5EF4-FFF2-40B4-BE49-F238E27FC236}">
                <a16:creationId xmlns:a16="http://schemas.microsoft.com/office/drawing/2014/main" id="{3EBC29A4-8B96-9D8C-6038-387CC08F9A32}"/>
              </a:ext>
            </a:extLst>
          </p:cNvPr>
          <p:cNvSpPr txBox="1"/>
          <p:nvPr/>
        </p:nvSpPr>
        <p:spPr>
          <a:xfrm>
            <a:off x="304800" y="1327958"/>
            <a:ext cx="11454378" cy="415498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[1] A. Rahim, G. L. </a:t>
            </a:r>
            <a:r>
              <a:rPr kumimoji="0" lang="en-US" sz="2400" b="1" i="0" u="none" strike="noStrike" kern="0" cap="none" spc="0" normalizeH="0" baseline="0" noProof="0" dirty="0" err="1">
                <a:ln>
                  <a:noFill/>
                </a:ln>
                <a:solidFill>
                  <a:sysClr val="windowText" lastClr="000000"/>
                </a:solidFill>
                <a:effectLst/>
                <a:uLnTx/>
                <a:uFillTx/>
                <a:latin typeface="Times New Roman" panose="02020603050405020304" pitchFamily="18" charset="0"/>
                <a:cs typeface="Times New Roman" panose="02020603050405020304" pitchFamily="18" charset="0"/>
              </a:rPr>
              <a:t>Ahari</a:t>
            </a:r>
            <a:r>
              <a:rPr kumimoji="0" lang="en-US" sz="2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G. Bhumika, and G. Divya Jyothi, </a:t>
            </a:r>
            <a:r>
              <a:rPr kumimoji="0" lang="en-US" sz="240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“Stress Detection in IT Professionals by Image Processing and Machine Learning,” International Journal of Multidisciplinary Methods (IJMM), vol. 11, no. 2, pp. 1–6, 2023. ISSN: 2454-5007.</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[2] M. Gupta and S. Vaikole, </a:t>
            </a:r>
            <a:r>
              <a:rPr kumimoji="0" lang="en-US" sz="240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“Audio Signal Based Stress Recognition System using AI and Machine Learning,” Journal of Algebraic Statistics, vol. 13, no. 2, pp. 1731–1740, 2022.</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[3] M. Khomidov, D. Lee, C.-H. Kim, and J.-H. Lee, </a:t>
            </a:r>
            <a:r>
              <a:rPr kumimoji="0" lang="en-US" sz="240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Real-Time Image Sequences-Based Stress Assessment Vision System for Mental Health,” Electronics, vol. 13, no. 11, p. 2180, 2024.</a:t>
            </a:r>
          </a:p>
        </p:txBody>
      </p:sp>
    </p:spTree>
    <p:extLst>
      <p:ext uri="{BB962C8B-B14F-4D97-AF65-F5344CB8AC3E}">
        <p14:creationId xmlns:p14="http://schemas.microsoft.com/office/powerpoint/2010/main" val="3626315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9613E-58C0-ED4C-04C4-10B4C6C5484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86B1CBF-A603-8996-319A-341F559A91A3}"/>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34854437-9792-EA4E-9AD6-F2F2315A6258}"/>
              </a:ext>
            </a:extLst>
          </p:cNvPr>
          <p:cNvSpPr txBox="1"/>
          <p:nvPr/>
        </p:nvSpPr>
        <p:spPr>
          <a:xfrm>
            <a:off x="152400" y="6593840"/>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B13</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70E0EF1-FEDF-3E4F-2CCE-64DEADC06750}"/>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AAD4B6EA-F6FE-D11E-9B13-6A7CBD38F753}"/>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70D64F47-113C-4121-DD3E-C4CD7DDA3A9E}"/>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1</a:t>
            </a:r>
            <a:r>
              <a:rPr lang="en-IN" sz="1600" dirty="0">
                <a:solidFill>
                  <a:srgbClr val="002060"/>
                </a:solidFill>
                <a:latin typeface="Times New Roman" panose="02020603050405020304" pitchFamily="18" charset="0"/>
                <a:cs typeface="Times New Roman" panose="02020603050405020304" pitchFamily="18" charset="0"/>
              </a:rPr>
              <a:t>1</a:t>
            </a:r>
          </a:p>
        </p:txBody>
      </p:sp>
      <p:sp>
        <p:nvSpPr>
          <p:cNvPr id="16" name="TextBox 15">
            <a:extLst>
              <a:ext uri="{FF2B5EF4-FFF2-40B4-BE49-F238E27FC236}">
                <a16:creationId xmlns:a16="http://schemas.microsoft.com/office/drawing/2014/main" id="{94F206AD-AAE3-2069-A8D1-C46FD5F5E2D4}"/>
              </a:ext>
            </a:extLst>
          </p:cNvPr>
          <p:cNvSpPr txBox="1"/>
          <p:nvPr/>
        </p:nvSpPr>
        <p:spPr>
          <a:xfrm>
            <a:off x="304800" y="409825"/>
            <a:ext cx="7315200" cy="769441"/>
          </a:xfrm>
          <a:prstGeom prst="rect">
            <a:avLst/>
          </a:prstGeom>
          <a:noFill/>
        </p:spPr>
        <p:txBody>
          <a:bodyPr wrap="square" rtlCol="0">
            <a:spAutoFit/>
          </a:bodyPr>
          <a:lstStyle/>
          <a:p>
            <a:r>
              <a:rPr lang="en-US" sz="4400" kern="0" spc="-10" dirty="0">
                <a:solidFill>
                  <a:prstClr val="white"/>
                </a:solidFill>
                <a:latin typeface="Times New Roman"/>
                <a:cs typeface="Times New Roman"/>
              </a:rPr>
              <a:t>G</a:t>
            </a:r>
            <a:r>
              <a:rPr lang="en-IN" sz="4400" kern="0" spc="-10" dirty="0" err="1">
                <a:solidFill>
                  <a:prstClr val="white"/>
                </a:solidFill>
                <a:latin typeface="Times New Roman"/>
                <a:cs typeface="Times New Roman"/>
              </a:rPr>
              <a:t>itHub</a:t>
            </a:r>
            <a:r>
              <a:rPr lang="en-IN" sz="4400" kern="0" spc="-10" dirty="0">
                <a:solidFill>
                  <a:prstClr val="white"/>
                </a:solidFill>
                <a:latin typeface="Times New Roman"/>
                <a:cs typeface="Times New Roman"/>
              </a:rPr>
              <a:t> Dashboard</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DD9C8A19-771E-6CE7-EB05-707213889871}"/>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Smart stress detection and relief system using voice and image processing</a:t>
            </a:r>
            <a:endParaRPr lang="en-IN" dirty="0"/>
          </a:p>
        </p:txBody>
      </p:sp>
      <p:pic>
        <p:nvPicPr>
          <p:cNvPr id="5" name="Picture 4">
            <a:extLst>
              <a:ext uri="{FF2B5EF4-FFF2-40B4-BE49-F238E27FC236}">
                <a16:creationId xmlns:a16="http://schemas.microsoft.com/office/drawing/2014/main" id="{10948A92-D8DD-7B7B-64A8-90EBAEF09C8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87667" y="1323659"/>
            <a:ext cx="10310987" cy="4755184"/>
          </a:xfrm>
          <a:prstGeom prst="rect">
            <a:avLst/>
          </a:prstGeom>
        </p:spPr>
      </p:pic>
      <p:sp>
        <p:nvSpPr>
          <p:cNvPr id="6" name="TextBox 5">
            <a:extLst>
              <a:ext uri="{FF2B5EF4-FFF2-40B4-BE49-F238E27FC236}">
                <a16:creationId xmlns:a16="http://schemas.microsoft.com/office/drawing/2014/main" id="{50F36D9E-E122-3137-F3F1-A53A8008E353}"/>
              </a:ext>
            </a:extLst>
          </p:cNvPr>
          <p:cNvSpPr txBox="1"/>
          <p:nvPr/>
        </p:nvSpPr>
        <p:spPr>
          <a:xfrm>
            <a:off x="533400" y="6078843"/>
            <a:ext cx="9099799" cy="830997"/>
          </a:xfrm>
          <a:prstGeom prst="rect">
            <a:avLst/>
          </a:prstGeom>
          <a:noFill/>
        </p:spPr>
        <p:txBody>
          <a:bodyPr wrap="none" rtlCol="0">
            <a:spAutoFit/>
          </a:bodyPr>
          <a:lstStyle/>
          <a:p>
            <a:r>
              <a:rPr lang="en-US" sz="2400" dirty="0"/>
              <a:t>GitHub Link : </a:t>
            </a:r>
            <a:r>
              <a:rPr lang="en-US" sz="2400" dirty="0">
                <a:hlinkClick r:id="rId4"/>
              </a:rPr>
              <a:t>https://github.com/tharun00123/CSE-2022-26-Batch-B13</a:t>
            </a:r>
            <a:r>
              <a:rPr lang="en-US" sz="2400" dirty="0"/>
              <a:t> </a:t>
            </a:r>
          </a:p>
          <a:p>
            <a:endParaRPr lang="en-US" sz="2400" dirty="0"/>
          </a:p>
        </p:txBody>
      </p:sp>
    </p:spTree>
    <p:extLst>
      <p:ext uri="{BB962C8B-B14F-4D97-AF65-F5344CB8AC3E}">
        <p14:creationId xmlns:p14="http://schemas.microsoft.com/office/powerpoint/2010/main" val="3154369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0CAFF-AE1B-FF5D-AD2D-1AE7D9A19F0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0E50AEE-E966-1F94-7850-89D668136DED}"/>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B13</a:t>
            </a:r>
          </a:p>
        </p:txBody>
      </p:sp>
      <p:sp>
        <p:nvSpPr>
          <p:cNvPr id="11" name="TextBox 10">
            <a:extLst>
              <a:ext uri="{FF2B5EF4-FFF2-40B4-BE49-F238E27FC236}">
                <a16:creationId xmlns:a16="http://schemas.microsoft.com/office/drawing/2014/main" id="{2365F503-6185-721A-D941-0592CF1DE4EE}"/>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1D763E08-717A-71C8-5B00-0441BE5EA05A}"/>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19066D6-9D2D-16B5-7B19-EF30037673FD}"/>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1</a:t>
            </a:r>
            <a:r>
              <a:rPr lang="en-IN" sz="1600" dirty="0">
                <a:solidFill>
                  <a:srgbClr val="002060"/>
                </a:solidFill>
                <a:latin typeface="Times New Roman" panose="02020603050405020304" pitchFamily="18" charset="0"/>
                <a:cs typeface="Times New Roman" panose="02020603050405020304" pitchFamily="18" charset="0"/>
              </a:rPr>
              <a:t>2</a:t>
            </a:r>
          </a:p>
        </p:txBody>
      </p:sp>
      <p:sp>
        <p:nvSpPr>
          <p:cNvPr id="20" name="TextBox 19">
            <a:extLst>
              <a:ext uri="{FF2B5EF4-FFF2-40B4-BE49-F238E27FC236}">
                <a16:creationId xmlns:a16="http://schemas.microsoft.com/office/drawing/2014/main" id="{68EF15B1-0938-0911-6948-DE6B630CE488}"/>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Smart stress detection and relief system using voice and image processing</a:t>
            </a:r>
            <a:endParaRPr lang="en-IN" dirty="0"/>
          </a:p>
        </p:txBody>
      </p:sp>
      <p:sp>
        <p:nvSpPr>
          <p:cNvPr id="7" name="TextBox 6">
            <a:extLst>
              <a:ext uri="{FF2B5EF4-FFF2-40B4-BE49-F238E27FC236}">
                <a16:creationId xmlns:a16="http://schemas.microsoft.com/office/drawing/2014/main" id="{D9A0E337-463E-EEBB-8E19-EB5E19143744}"/>
              </a:ext>
            </a:extLst>
          </p:cNvPr>
          <p:cNvSpPr txBox="1"/>
          <p:nvPr/>
        </p:nvSpPr>
        <p:spPr>
          <a:xfrm>
            <a:off x="2697548" y="2644170"/>
            <a:ext cx="8399357" cy="1569660"/>
          </a:xfrm>
          <a:prstGeom prst="rect">
            <a:avLst/>
          </a:prstGeom>
          <a:noFill/>
        </p:spPr>
        <p:txBody>
          <a:bodyPr wrap="square">
            <a:spAutoFit/>
          </a:bodyPr>
          <a:lstStyle/>
          <a:p>
            <a:r>
              <a:rPr lang="en-IN" sz="9600" i="1" dirty="0">
                <a:solidFill>
                  <a:srgbClr val="FF6600"/>
                </a:solidFill>
                <a:latin typeface="Times New Roman"/>
                <a:cs typeface="Times New Roman"/>
              </a:rPr>
              <a:t>Any</a:t>
            </a:r>
            <a:r>
              <a:rPr lang="en-IN" sz="9600" i="1" spc="-30" dirty="0">
                <a:solidFill>
                  <a:srgbClr val="FF6600"/>
                </a:solidFill>
                <a:latin typeface="Times New Roman"/>
                <a:cs typeface="Times New Roman"/>
              </a:rPr>
              <a:t> </a:t>
            </a:r>
            <a:r>
              <a:rPr lang="en-IN" sz="9600" i="1" spc="-10" dirty="0">
                <a:solidFill>
                  <a:srgbClr val="FF6600"/>
                </a:solidFill>
                <a:latin typeface="Times New Roman"/>
                <a:cs typeface="Times New Roman"/>
              </a:rPr>
              <a:t>Queries?</a:t>
            </a:r>
            <a:endParaRPr lang="en-IN" sz="9600" dirty="0"/>
          </a:p>
        </p:txBody>
      </p:sp>
    </p:spTree>
    <p:extLst>
      <p:ext uri="{BB962C8B-B14F-4D97-AF65-F5344CB8AC3E}">
        <p14:creationId xmlns:p14="http://schemas.microsoft.com/office/powerpoint/2010/main" val="20245508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review</Template>
  <TotalTime>0</TotalTime>
  <Words>1235</Words>
  <Application>Microsoft Office PowerPoint</Application>
  <PresentationFormat>Widescreen</PresentationFormat>
  <Paragraphs>162</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Tharun K M</dc:creator>
  <cp:lastModifiedBy>Tharun K M</cp:lastModifiedBy>
  <cp:revision>1</cp:revision>
  <dcterms:created xsi:type="dcterms:W3CDTF">2025-12-11T12:14:59Z</dcterms:created>
  <dcterms:modified xsi:type="dcterms:W3CDTF">2025-12-11T13:34:16Z</dcterms:modified>
</cp:coreProperties>
</file>